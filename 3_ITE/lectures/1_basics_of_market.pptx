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534" r:id="rId4"/>
    <p:sldId id="260" r:id="rId5"/>
    <p:sldId id="261" r:id="rId6"/>
    <p:sldId id="263" r:id="rId7"/>
    <p:sldId id="264" r:id="rId8"/>
    <p:sldId id="259" r:id="rId9"/>
    <p:sldId id="539" r:id="rId10"/>
    <p:sldId id="268" r:id="rId11"/>
    <p:sldId id="269" r:id="rId12"/>
    <p:sldId id="540" r:id="rId13"/>
    <p:sldId id="389" r:id="rId14"/>
    <p:sldId id="541" r:id="rId15"/>
    <p:sldId id="332" r:id="rId16"/>
    <p:sldId id="270" r:id="rId17"/>
    <p:sldId id="333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8" r:id="rId35"/>
    <p:sldId id="546" r:id="rId36"/>
    <p:sldId id="289" r:id="rId37"/>
    <p:sldId id="290" r:id="rId38"/>
    <p:sldId id="291" r:id="rId39"/>
    <p:sldId id="545" r:id="rId40"/>
    <p:sldId id="296" r:id="rId41"/>
    <p:sldId id="292" r:id="rId42"/>
    <p:sldId id="293" r:id="rId43"/>
    <p:sldId id="294" r:id="rId44"/>
    <p:sldId id="295" r:id="rId45"/>
    <p:sldId id="297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548" r:id="rId54"/>
    <p:sldId id="308" r:id="rId55"/>
    <p:sldId id="549" r:id="rId56"/>
    <p:sldId id="309" r:id="rId57"/>
    <p:sldId id="310" r:id="rId58"/>
    <p:sldId id="311" r:id="rId59"/>
    <p:sldId id="313" r:id="rId60"/>
    <p:sldId id="428" r:id="rId61"/>
    <p:sldId id="429" r:id="rId62"/>
    <p:sldId id="315" r:id="rId63"/>
    <p:sldId id="373" r:id="rId64"/>
    <p:sldId id="343" r:id="rId65"/>
    <p:sldId id="316" r:id="rId66"/>
    <p:sldId id="317" r:id="rId67"/>
    <p:sldId id="318" r:id="rId68"/>
    <p:sldId id="319" r:id="rId69"/>
    <p:sldId id="320" r:id="rId70"/>
    <p:sldId id="542" r:id="rId71"/>
    <p:sldId id="543" r:id="rId72"/>
    <p:sldId id="544" r:id="rId73"/>
  </p:sldIdLst>
  <p:sldSz cx="12192000" cy="6858000"/>
  <p:notesSz cx="6858000" cy="9144000"/>
  <p:embeddedFontLst>
    <p:embeddedFont>
      <p:font typeface="Didact Gothic" pitchFamily="2" charset="0"/>
      <p:regular r:id="rId75"/>
    </p:embeddedFont>
    <p:embeddedFont>
      <p:font typeface="Golos Text" panose="020B0503020202020204" pitchFamily="34" charset="0"/>
      <p:regular r:id="rId76"/>
      <p:bold r:id="rId77"/>
    </p:embeddedFont>
    <p:embeddedFont>
      <p:font typeface="Helvetica Neue" panose="02000503000000020004" pitchFamily="2" charset="0"/>
      <p:regular r:id="rId78"/>
      <p:bold r:id="rId79"/>
      <p:italic r:id="rId80"/>
      <p:boldItalic r:id="rId81"/>
    </p:embeddedFont>
    <p:embeddedFont>
      <p:font typeface="Play" pitchFamily="2" charset="0"/>
      <p:regular r:id="rId82"/>
      <p:bold r:id="rId83"/>
    </p:embeddedFont>
    <p:embeddedFont>
      <p:font typeface="Poppins" pitchFamily="2" charset="0"/>
      <p:regular r:id="rId84"/>
      <p:bold r:id="rId85"/>
      <p:italic r:id="rId86"/>
      <p:boldItalic r:id="rId87"/>
    </p:embeddedFont>
    <p:embeddedFont>
      <p:font typeface="Spectral" pitchFamily="2" charset="0"/>
      <p:regular r:id="rId88"/>
      <p:bold r:id="rId89"/>
      <p:italic r:id="rId90"/>
      <p:boldItalic r:id="rId9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jjibQWCqp2P0wYFqUYufpxfaCn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B68FA5-C104-46DC-AD42-BCEE44FBD859}">
  <a:tblStyle styleId="{70B68FA5-C104-46DC-AD42-BCEE44FBD85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E1C989E-0EAC-4253-8018-FE855EB00D0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A836E94-B30E-424F-8183-7C414093E04C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94"/>
  </p:normalViewPr>
  <p:slideViewPr>
    <p:cSldViewPr snapToGrid="0">
      <p:cViewPr varScale="1">
        <p:scale>
          <a:sx n="117" d="100"/>
          <a:sy n="117" d="100"/>
        </p:scale>
        <p:origin x="9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0.fntdata"/><Relationship Id="rId89" Type="http://schemas.openxmlformats.org/officeDocument/2006/relationships/font" Target="fonts/font1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90" Type="http://schemas.openxmlformats.org/officeDocument/2006/relationships/font" Target="fonts/font16.fntdata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85" Type="http://schemas.openxmlformats.org/officeDocument/2006/relationships/font" Target="fonts/font11.fntdata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font" Target="fonts/font14.fntdata"/><Relationship Id="rId91" Type="http://schemas.openxmlformats.org/officeDocument/2006/relationships/font" Target="fonts/font17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font" Target="fonts/font12.fntdata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3.fntdata"/><Relationship Id="rId61" Type="http://schemas.openxmlformats.org/officeDocument/2006/relationships/slide" Target="slides/slide60.xml"/><Relationship Id="rId82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rtner.com/en/information-technology/insights/top-technology-trends?utm_source=press-release&amp;utm_medium=promotion&amp;utm_campaign=RM_GB_2023_ITTRND_NPP_PR1_TTT23&amp;utm_term=ebook" TargetMode="External"/><Relationship Id="rId3" Type="http://schemas.openxmlformats.org/officeDocument/2006/relationships/hyperlink" Target="https://www.bmc.com/blogs/hype-cycle-innovation-trigger/" TargetMode="External"/><Relationship Id="rId7" Type="http://schemas.openxmlformats.org/officeDocument/2006/relationships/hyperlink" Target="https://www.gartner.com/en/newsroom/press-releases/2019-10-16-gartner-highlights-five-critical-technologies-for-a-u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artner.com/smarterwithgartner/5-trends-emerge-in-gartner-hype-cycle-for-emerging-technologies-2018/" TargetMode="External"/><Relationship Id="rId5" Type="http://schemas.openxmlformats.org/officeDocument/2006/relationships/hyperlink" Target="https://www.bmc.com/blogs/neural-network-tensor-flow/" TargetMode="External"/><Relationship Id="rId10" Type="http://schemas.openxmlformats.org/officeDocument/2006/relationships/hyperlink" Target="https://www.gartner.com/en/articles/why-fusion-teams-matter" TargetMode="External"/><Relationship Id="rId4" Type="http://schemas.openxmlformats.org/officeDocument/2006/relationships/hyperlink" Target="https://www.forbes.com/sites/louiscolumbus/2019/09/25/whats-new-in-gartners-hype-cycle-for-ai-2019/%236a506947547b" TargetMode="External"/><Relationship Id="rId9" Type="http://schemas.openxmlformats.org/officeDocument/2006/relationships/hyperlink" Target="https://www.gartner.com/en/newsroom/press-releases/2022-02-07-gartner-predicts-25-percent-of-people-will-spend-at-least-one-hour-per-day-in-the-metaverse-by-2026" TargetMode="Externa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C53ED-96F8-574D-983F-E6AB7FBF3C0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617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16" name="Google Shape;21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7" name="Google Shape;2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3" name="Google Shape;2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i="0"/>
          </a:p>
        </p:txBody>
      </p:sp>
      <p:sp>
        <p:nvSpPr>
          <p:cNvPr id="275" name="Google Shape;2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82" name="Google Shape;2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1" name="Google Shape;2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27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29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30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18" name="Google Shape;4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32" name="Google Shape;43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43" name="Google Shape;44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34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35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9e43925ec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f9e43925ec_1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latin typeface="Helvetica Neue"/>
                <a:ea typeface="Helvetica Neue"/>
                <a:cs typeface="Helvetica Neue"/>
                <a:sym typeface="Helvetica Neue"/>
              </a:rPr>
              <a:t>Эффект </a:t>
            </a:r>
            <a:r>
              <a:rPr lang="ru-RU" dirty="0" err="1">
                <a:latin typeface="Helvetica Neue"/>
                <a:ea typeface="Helvetica Neue"/>
                <a:cs typeface="Helvetica Neue"/>
                <a:sym typeface="Helvetica Neue"/>
              </a:rPr>
              <a:t>Веблена</a:t>
            </a:r>
            <a:r>
              <a:rPr lang="ru-RU" dirty="0">
                <a:latin typeface="Helvetica Neue"/>
                <a:ea typeface="Helvetica Neue"/>
                <a:cs typeface="Helvetica Neue"/>
                <a:sym typeface="Helvetica Neue"/>
              </a:rPr>
              <a:t> (Демонстративное потребление)</a:t>
            </a: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50" b="1" dirty="0">
                <a:latin typeface="Helvetica Neue"/>
                <a:ea typeface="Helvetica Neue"/>
                <a:cs typeface="Helvetica Neue"/>
                <a:sym typeface="Helvetica Neue"/>
              </a:rPr>
              <a:t>Суть:</a:t>
            </a:r>
            <a:r>
              <a:rPr lang="ru-RU" sz="1050" dirty="0">
                <a:latin typeface="Helvetica Neue"/>
                <a:ea typeface="Helvetica Neue"/>
                <a:cs typeface="Helvetica Neue"/>
                <a:sym typeface="Helvetica Neue"/>
              </a:rPr>
              <a:t> «Я покупаю это, чтобы показать, какой я богатый».</a:t>
            </a:r>
            <a:endParaRPr sz="105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50" dirty="0">
                <a:latin typeface="Helvetica Neue"/>
                <a:ea typeface="Helvetica Neue"/>
                <a:cs typeface="Helvetica Neue"/>
                <a:sym typeface="Helvetica Neue"/>
              </a:rPr>
              <a:t>Это потребление предметов роскоши ради </a:t>
            </a:r>
            <a:r>
              <a:rPr lang="ru-RU" sz="1050" b="1" dirty="0">
                <a:latin typeface="Helvetica Neue"/>
                <a:ea typeface="Helvetica Neue"/>
                <a:cs typeface="Helvetica Neue"/>
                <a:sym typeface="Helvetica Neue"/>
              </a:rPr>
              <a:t>статуса</a:t>
            </a:r>
            <a:r>
              <a:rPr lang="ru-RU" sz="1050" dirty="0">
                <a:latin typeface="Helvetica Neue"/>
                <a:ea typeface="Helvetica Neue"/>
                <a:cs typeface="Helvetica Neue"/>
                <a:sym typeface="Helvetica Neue"/>
              </a:rPr>
              <a:t>. Цена здесь работает как фильтр: если вещь стоит дешево, она теряет свою ценность для богатого человека, потому что её может купить кто угодно.</a:t>
            </a:r>
            <a:endParaRPr sz="105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1E222E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03" name="Google Shape;503;g3f9e43925ec_1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36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9e43925ec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3f9e43925ec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50" b="1" dirty="0">
                <a:latin typeface="Helvetica Neue"/>
                <a:ea typeface="Helvetica Neue"/>
                <a:cs typeface="Helvetica Neue"/>
                <a:sym typeface="Helvetica Neue"/>
              </a:rPr>
              <a:t>Суть:</a:t>
            </a:r>
            <a:r>
              <a:rPr lang="ru-RU" sz="1050" dirty="0">
                <a:latin typeface="Helvetica Neue"/>
                <a:ea typeface="Helvetica Neue"/>
                <a:cs typeface="Helvetica Neue"/>
                <a:sym typeface="Helvetica Neue"/>
              </a:rPr>
              <a:t> «Я покупаю это, потому что это лучшее из доступного мне».</a:t>
            </a:r>
            <a:endParaRPr sz="105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50" dirty="0">
                <a:latin typeface="Helvetica Neue"/>
                <a:ea typeface="Helvetica Neue"/>
                <a:cs typeface="Helvetica Neue"/>
                <a:sym typeface="Helvetica Neue"/>
              </a:rPr>
              <a:t>Этот эффект касается товаров </a:t>
            </a:r>
            <a:r>
              <a:rPr lang="ru-RU" sz="1050" b="1" dirty="0">
                <a:latin typeface="Helvetica Neue"/>
                <a:ea typeface="Helvetica Neue"/>
                <a:cs typeface="Helvetica Neue"/>
                <a:sym typeface="Helvetica Neue"/>
              </a:rPr>
              <a:t>низкого ценового сегмента</a:t>
            </a:r>
            <a:r>
              <a:rPr lang="ru-RU" sz="1050" dirty="0">
                <a:latin typeface="Helvetica Neue"/>
                <a:ea typeface="Helvetica Neue"/>
                <a:cs typeface="Helvetica Neue"/>
                <a:sym typeface="Helvetica Neue"/>
              </a:rPr>
              <a:t>. Когда цена на самый дешевый товар в категории растет, он становится «социально приемлемым» или «качественным среди дешевых». Люди, у которых мало денег, начинают массово скупать этот товар, чтобы не выглядеть совсем уж бедно.</a:t>
            </a:r>
            <a:endParaRPr sz="105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4" name="Google Shape;524;g3f9e43925ec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37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38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40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41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1" name="Google Shape;58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603" name="Google Shape;60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6" name="Google Shape;66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45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0" name="Google Shape;780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46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47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48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2" name="Google Shape;812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49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7" name="Google Shape;82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b="1"/>
              <a:t>Субъектами, </a:t>
            </a:r>
            <a:r>
              <a:rPr lang="ru-RU"/>
              <a:t>рынка являются: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  <a:p>
            <a:pPr marL="457200" lvl="0" indent="-419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ru-RU" b="1"/>
              <a:t>Физические лица</a:t>
            </a:r>
            <a:endParaRPr/>
          </a:p>
          <a:p>
            <a:pPr marL="457200" lvl="0" indent="-419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ru-RU" b="1"/>
              <a:t>Домашнее хозяйство (семья) – </a:t>
            </a:r>
            <a:r>
              <a:rPr lang="ru-RU"/>
              <a:t>это экономическая единица в составе одного или нескольких лиц, которая: обеспечивает производство и воспроизводство человеческого капитала; самостоятельно принимает решения; является собственником какого-либо фактора производства и может сдать в аренду или продать своё имущество, капитал, рабочую силу; стремиться к максимальному удовлетворению своих потребностей. </a:t>
            </a:r>
            <a:endParaRPr/>
          </a:p>
          <a:p>
            <a:pPr marL="457200" lvl="0" indent="-419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ru-RU" b="1"/>
              <a:t>Фирма – </a:t>
            </a:r>
            <a:r>
              <a:rPr lang="ru-RU"/>
              <a:t>это экономическая единица, которая: использует факторы производства для изготовления продукции с целью её продажи; стремиться к максимизации прибыли; самостоятельно принимает решения. </a:t>
            </a:r>
            <a:endParaRPr/>
          </a:p>
          <a:p>
            <a:pPr marL="457200" lvl="0" indent="-419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ru-RU" b="1"/>
              <a:t>Государство,</a:t>
            </a:r>
            <a:r>
              <a:rPr lang="ru-RU"/>
              <a:t> представлено правительственными учреждениями, осуществляющими юридическую и политическую власть для обеспечения контроля над хозяйственными субъектами и над рынком для достижения общественных целей.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51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7" name="Google Shape;837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endParaRPr/>
          </a:p>
        </p:txBody>
      </p:sp>
      <p:sp>
        <p:nvSpPr>
          <p:cNvPr id="838" name="Google Shape;838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52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5" name="Google Shape;905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57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58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59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Сегментация – разделение рынка на группы покупателей, обладающих схожими характеристиками, с целью изучения их реакции на тот или иной товар/услугу и выбора целевых сегментов рынка</a:t>
            </a:r>
          </a:p>
          <a:p>
            <a:endParaRPr lang="ru-RU" dirty="0"/>
          </a:p>
          <a:p>
            <a:r>
              <a:rPr lang="ru-RU" dirty="0"/>
              <a:t>Сегмент – группа покупателей обладающая похожими потребностями, желаниями и возможностями.</a:t>
            </a:r>
          </a:p>
          <a:p>
            <a:endParaRPr lang="ru-RU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200" b="1" dirty="0">
                <a:solidFill>
                  <a:srgbClr val="C00000"/>
                </a:solidFill>
              </a:rPr>
              <a:t>Профилирование сегментов – определение различий либо сходства в характеристиках или потребностях потребителей.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1200" b="1" dirty="0">
              <a:solidFill>
                <a:srgbClr val="C00000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200" dirty="0"/>
              <a:t>На этой основе мы можем сформировать, агрегировать разные группы людей, домохозяйств или организаций, объединив их в группы, </a:t>
            </a:r>
            <a:r>
              <a:rPr lang="ru-RU" sz="1200" b="1" dirty="0">
                <a:solidFill>
                  <a:srgbClr val="C00000"/>
                </a:solidFill>
              </a:rPr>
              <a:t>сегменты, то есть части рынка, различающиеся между собой.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1200" b="1" dirty="0">
              <a:solidFill>
                <a:srgbClr val="C00000"/>
              </a:solidFill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C53ED-96F8-574D-983F-E6AB7FBF3C03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8370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ru-RU" sz="1200" dirty="0"/>
              <a:t>социально-демографические (пол, возраст, уровень дохода, образования, кол-</a:t>
            </a:r>
            <a:r>
              <a:rPr lang="ru-RU" sz="1200" dirty="0" err="1"/>
              <a:t>ый</a:t>
            </a:r>
            <a:r>
              <a:rPr lang="ru-RU" sz="1200" dirty="0"/>
              <a:t>/</a:t>
            </a:r>
            <a:r>
              <a:rPr lang="ru-RU" sz="1200" dirty="0" err="1"/>
              <a:t>качес-ый</a:t>
            </a:r>
            <a:r>
              <a:rPr lang="ru-RU" sz="1200" dirty="0"/>
              <a:t> состав семьи, раса, религиозные убеждения)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ru-RU" sz="1200" dirty="0" err="1"/>
              <a:t>психографические</a:t>
            </a:r>
            <a:r>
              <a:rPr lang="ru-RU" sz="1200" dirty="0"/>
              <a:t> (разница в психологических  и духовных особенностях, разный психологический возраст, образ жизни, тип личности, общественное положение и др.)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ru-RU" sz="1200" dirty="0"/>
              <a:t>Географический (расположение рынка, численность и плотность населения, динамика развития региона, инфляция. Географические ограничения)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ru-RU" sz="1200" dirty="0"/>
              <a:t>Поведенческий (повод для покупки, выгода, статус пользователя, степень приверженности, информация о товаре, отношение к товару)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200" b="1" dirty="0">
                <a:solidFill>
                  <a:srgbClr val="C00000"/>
                </a:solidFill>
              </a:rPr>
              <a:t>-</a:t>
            </a:r>
            <a:r>
              <a:rPr lang="ru-RU" sz="1200" b="0" dirty="0" err="1">
                <a:solidFill>
                  <a:srgbClr val="C00000"/>
                </a:solidFill>
              </a:rPr>
              <a:t>Верхнеуровневые</a:t>
            </a:r>
            <a:r>
              <a:rPr lang="ru-RU" sz="1200" b="0" dirty="0">
                <a:solidFill>
                  <a:srgbClr val="C00000"/>
                </a:solidFill>
              </a:rPr>
              <a:t> группы пользователей товаров (услуг) (</a:t>
            </a:r>
            <a:r>
              <a:rPr lang="en-US" sz="1200" b="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B2B</a:t>
            </a:r>
            <a:r>
              <a:rPr lang="ru-RU" sz="1200" b="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(корпоративные рынки), </a:t>
            </a:r>
            <a:r>
              <a:rPr lang="en-US" sz="1200" b="0" dirty="0">
                <a:solidFill>
                  <a:schemeClr val="accent3">
                    <a:lumMod val="75000"/>
                  </a:schemeClr>
                </a:solidFill>
              </a:rPr>
              <a:t>B2C</a:t>
            </a:r>
            <a:r>
              <a:rPr lang="ru-RU" sz="1200" b="0" dirty="0">
                <a:solidFill>
                  <a:schemeClr val="accent3">
                    <a:lumMod val="75000"/>
                  </a:schemeClr>
                </a:solidFill>
              </a:rPr>
              <a:t> (потребительские рынки), </a:t>
            </a:r>
            <a:r>
              <a:rPr lang="en-US" sz="1200" b="0" dirty="0">
                <a:solidFill>
                  <a:srgbClr val="C00000"/>
                </a:solidFill>
              </a:rPr>
              <a:t>B2G</a:t>
            </a:r>
            <a:r>
              <a:rPr lang="ru-RU" sz="1200" b="0" dirty="0">
                <a:solidFill>
                  <a:srgbClr val="C00000"/>
                </a:solidFill>
              </a:rPr>
              <a:t> (покупатель, закупщик, плательщик – государство), </a:t>
            </a:r>
            <a:r>
              <a:rPr lang="en-US" sz="1200" b="0" dirty="0">
                <a:solidFill>
                  <a:schemeClr val="accent5">
                    <a:lumMod val="50000"/>
                  </a:schemeClr>
                </a:solidFill>
              </a:rPr>
              <a:t>P2P </a:t>
            </a:r>
            <a:r>
              <a:rPr lang="ru-RU" sz="1200" b="0" dirty="0">
                <a:solidFill>
                  <a:schemeClr val="accent5">
                    <a:lumMod val="50000"/>
                  </a:schemeClr>
                </a:solidFill>
              </a:rPr>
              <a:t>(прямой обмен от человека к человеку,  </a:t>
            </a:r>
            <a:r>
              <a:rPr lang="en-US" sz="1200" b="0" dirty="0">
                <a:solidFill>
                  <a:schemeClr val="accent5">
                    <a:lumMod val="50000"/>
                  </a:schemeClr>
                </a:solidFill>
              </a:rPr>
              <a:t>AVITO</a:t>
            </a:r>
            <a:r>
              <a:rPr lang="ru-RU" sz="1200" b="0" dirty="0">
                <a:solidFill>
                  <a:schemeClr val="accent5">
                    <a:lumMod val="50000"/>
                  </a:schemeClr>
                </a:solidFill>
              </a:rPr>
              <a:t>, например).</a:t>
            </a:r>
            <a:endParaRPr lang="ru-RU" sz="1200" b="0" dirty="0"/>
          </a:p>
          <a:p>
            <a:pPr algn="just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ru-RU" sz="1200" dirty="0"/>
              <a:t>и много других, которые определяют сходства либо различия между вашими клиентами, даже национальность и религиозная принадлежность. Можно использовать совокупность критериев.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C53ED-96F8-574D-983F-E6AB7FBF3C03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1369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1" name="Google Shape;951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62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Hype cycle </a:t>
            </a:r>
            <a:r>
              <a:rPr lang="ru-RU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- это </a:t>
            </a:r>
            <a:r>
              <a:rPr lang="ru-RU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графическое отображение проникновения, адаптации и социального влияния специфических технологий</a:t>
            </a:r>
            <a:r>
              <a:rPr lang="ru-RU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ru-RU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>
              <a:buNone/>
            </a:pPr>
            <a:endParaRPr lang="ru-RU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rId3"/>
              </a:rPr>
              <a:t>Инновационный Триггер</a:t>
            </a:r>
            <a:r>
              <a:rPr lang="ru-RU" b="0" i="0" u="none" strike="noStrike" dirty="0">
                <a:solidFill>
                  <a:srgbClr val="232323"/>
                </a:solidFill>
                <a:effectLst/>
                <a:latin typeface="Didact Gothic" pitchFamily="2" charset="0"/>
              </a:rPr>
              <a:t> - э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то начальный этап технологического прорыва. Это может быть продукт, процесс, концепция, тенденция или идея, которые привлекают внимание средств массовой информации и считаются законным прорывом. Технология доступна только ограниченным организациям, таким как исследовательские лаборатории и стартап-фирмы.</a:t>
            </a:r>
            <a:endParaRPr lang="en-US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Примеры инновационного триггера: Летающие автономные транспортные средства / Биотехнология, такая как искусственные ткани / 4</a:t>
            </a:r>
            <a:r>
              <a:rPr lang="en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D-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печать</a:t>
            </a:r>
            <a:endParaRPr lang="en-US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 fontAlgn="base">
              <a:buNone/>
            </a:pPr>
            <a:endParaRPr lang="ru-RU" b="0" i="0" u="none" strike="noStrike" dirty="0">
              <a:solidFill>
                <a:srgbClr val="0078CC"/>
              </a:solidFill>
              <a:effectLst/>
              <a:latin typeface="Didact Gothic" pitchFamily="2" charset="0"/>
              <a:hlinkClick r:id="" action="ppaction://noaction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" action="ppaction://noaction"/>
              </a:rPr>
              <a:t>Пик завышенных ожиданий</a:t>
            </a:r>
            <a:r>
              <a:rPr lang="ru-RU" b="0" i="0" u="none" strike="noStrike" dirty="0">
                <a:solidFill>
                  <a:srgbClr val="232323"/>
                </a:solidFill>
                <a:effectLst/>
                <a:latin typeface="Didact Gothic" pitchFamily="2" charset="0"/>
              </a:rPr>
              <a:t> - н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а данном этапе технология широко распространена. Продавцы используют его в качестве модного слова в маркетинговых кампаниях, а инвесторы и клиенты видят в нем точку доступа. На этом этапе часто наблюдается всплеск поставщиков, наводняющих рынок дополнительными и конкурирующими продуктами.</a:t>
            </a:r>
            <a:endParaRPr lang="en-US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rId4"/>
              </a:rPr>
              <a:t>Примеры 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пика завышенных ожиданий: Глубокие </a:t>
            </a: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rId5"/>
              </a:rPr>
              <a:t>нейронные сети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/ Цифровой близнец /Углеродная нанотрубка</a:t>
            </a:r>
            <a:endParaRPr lang="en-US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 fontAlgn="base">
              <a:buNone/>
            </a:pPr>
            <a:endParaRPr lang="ru-RU" b="0" i="0" u="none" strike="noStrike" dirty="0">
              <a:solidFill>
                <a:srgbClr val="0078CC"/>
              </a:solidFill>
              <a:effectLst/>
              <a:latin typeface="Didact Gothic" pitchFamily="2" charset="0"/>
              <a:hlinkClick r:id="" action="ppaction://noaction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" action="ppaction://noaction"/>
              </a:rPr>
              <a:t>Ведро разочарования</a:t>
            </a:r>
            <a:r>
              <a:rPr lang="ru-RU" b="0" i="0" u="none" strike="noStrike" dirty="0">
                <a:solidFill>
                  <a:srgbClr val="232323"/>
                </a:solidFill>
                <a:effectLst/>
                <a:latin typeface="Didact Gothic" pitchFamily="2" charset="0"/>
              </a:rPr>
              <a:t> - в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скоре после того, как технологическая инновация достигает пика завышенных ожиданий, мы видим активность, превышающую их первых пользователей. В настоящее время организации ищут значимую ценность, помимо первоначальных историй успеха и отраслевой шумихи.</a:t>
            </a:r>
            <a:endParaRPr lang="en-US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rId6"/>
              </a:rPr>
              <a:t>Примеры 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«Тройка разочарования»: Умные ткани / Дополненная реальность / Компьютерное зрение</a:t>
            </a:r>
          </a:p>
          <a:p>
            <a:pPr marL="158750" indent="0" algn="l" fontAlgn="base">
              <a:buNone/>
            </a:pPr>
            <a:endParaRPr lang="ru-RU" b="0" i="0" u="none" strike="noStrike" dirty="0">
              <a:solidFill>
                <a:srgbClr val="0078CC"/>
              </a:solidFill>
              <a:effectLst/>
              <a:latin typeface="Didact Gothic" pitchFamily="2" charset="0"/>
              <a:hlinkClick r:id="" action="ppaction://noaction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" action="ppaction://noaction"/>
              </a:rPr>
              <a:t>Склон Просвещения</a:t>
            </a:r>
            <a:r>
              <a:rPr lang="ru-RU" b="0" i="0" u="none" strike="noStrike" dirty="0">
                <a:solidFill>
                  <a:srgbClr val="232323"/>
                </a:solidFill>
                <a:effectLst/>
                <a:latin typeface="Didact Gothic" pitchFamily="2" charset="0"/>
              </a:rPr>
              <a:t> - т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ехнологические инновации в настоящее время претерпели достаточное количество историй успеха и неудач, обновлений и улучшений, чтобы отрасль понимала оптимальный путь траектории роста. Соответственно, появляются второе и третье поколения инноваций, представляющие проверенные решения конкретных проблем и промышленных вариантов использования. В результате внедрение приближается к 20% аудитории по мере того, как технология достигает следующей фазы зрелости.</a:t>
            </a:r>
            <a:endParaRPr lang="en-US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rId7"/>
              </a:rPr>
              <a:t>Примеры 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склона Просвещения: Прогнозная аналитика / Решения по управлению ИТ-рисками / Облачные сервисы для правительства</a:t>
            </a:r>
          </a:p>
          <a:p>
            <a:pPr marL="158750" indent="0" algn="l" fontAlgn="base">
              <a:buNone/>
            </a:pPr>
            <a:endParaRPr lang="ru-RU" b="0" i="0" u="none" strike="noStrike" dirty="0">
              <a:solidFill>
                <a:srgbClr val="0078CC"/>
              </a:solidFill>
              <a:effectLst/>
              <a:latin typeface="Didact Gothic" pitchFamily="2" charset="0"/>
              <a:hlinkClick r:id="" action="ppaction://noaction"/>
            </a:endParaRP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0078CC"/>
                </a:solidFill>
                <a:effectLst/>
                <a:latin typeface="Didact Gothic" pitchFamily="2" charset="0"/>
                <a:hlinkClick r:id="" action="ppaction://noaction"/>
              </a:rPr>
              <a:t>Плато производительности</a:t>
            </a:r>
            <a:r>
              <a:rPr lang="ru-RU" b="0" i="0" u="none" strike="noStrike" dirty="0">
                <a:solidFill>
                  <a:srgbClr val="232323"/>
                </a:solidFill>
                <a:effectLst/>
                <a:latin typeface="Didact Gothic" pitchFamily="2" charset="0"/>
              </a:rPr>
              <a:t> -э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то фаза массового принятия (30% или более аудитории). СМИ и эксперты в области технологий регулярно публикуют актуальные новости, лучшие практики и идеи о будущих обновлениях. Технология легко производится и доступна в качестве готового решения. Растущее сообщество строится вокруг технологии, и появляется экосистема соответствующих продуктов и услуг. Наблюдаются истории успешного внедрения в различных отраслевых вертикалях. Успешные поставщики приближаются к приобретениям и </a:t>
            </a:r>
            <a:r>
              <a:rPr lang="en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IPO.</a:t>
            </a:r>
          </a:p>
          <a:p>
            <a:pPr marL="158750" indent="0" algn="l" fontAlgn="base">
              <a:buNone/>
            </a:pP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Примеры плато </a:t>
            </a:r>
            <a:r>
              <a:rPr lang="ru-RU" b="0" i="0" u="none" strike="noStrike" dirty="0" err="1">
                <a:solidFill>
                  <a:srgbClr val="1D1D1D"/>
                </a:solidFill>
                <a:effectLst/>
                <a:latin typeface="Didact Gothic" pitchFamily="2" charset="0"/>
              </a:rPr>
              <a:t>производительности:Облачные</a:t>
            </a:r>
            <a:r>
              <a:rPr lang="ru-RU" b="0" i="0" u="none" strike="noStrike" dirty="0">
                <a:solidFill>
                  <a:srgbClr val="1D1D1D"/>
                </a:solidFill>
                <a:effectLst/>
                <a:latin typeface="Didact Gothic" pitchFamily="2" charset="0"/>
              </a:rPr>
              <a:t> офисные пакеты/Ускорение графического процессора/Распознавание речи</a:t>
            </a:r>
          </a:p>
          <a:p>
            <a:pPr marL="158750" indent="0">
              <a:buNone/>
            </a:pPr>
            <a:endParaRPr lang="ru-RU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>
              <a:buNone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j-lt"/>
              </a:rPr>
              <a:t>___</a:t>
            </a:r>
          </a:p>
          <a:p>
            <a:pPr marL="158750" indent="0">
              <a:buNone/>
            </a:pPr>
            <a:endParaRPr lang="ru-RU" b="1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>
              <a:buNone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j-lt"/>
              </a:rPr>
              <a:t>Развитие и расширение </a:t>
            </a:r>
            <a:r>
              <a:rPr lang="ru-RU" b="1" i="0" u="none" strike="noStrike" dirty="0" err="1">
                <a:solidFill>
                  <a:srgbClr val="000000"/>
                </a:solidFill>
                <a:effectLst/>
                <a:latin typeface="+mj-lt"/>
              </a:rPr>
              <a:t>иммерсивного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j-lt"/>
              </a:rPr>
              <a:t> опыта: 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будущее цифрового опыта - это захватывающее.</a:t>
            </a:r>
          </a:p>
          <a:p>
            <a:pPr marL="158750" indent="0" algn="l">
              <a:buNone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Коллекция </a:t>
            </a:r>
            <a:r>
              <a:rPr lang="ru-RU" b="0" i="0" u="none" strike="noStrike" dirty="0">
                <a:solidFill>
                  <a:srgbClr val="0052D6"/>
                </a:solidFill>
                <a:effectLst/>
                <a:latin typeface="+mj-lt"/>
                <a:hlinkClick r:id="rId8"/>
              </a:rPr>
              <a:t>новых технологий 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поддерживает такой опыт с помощью динамических виртуальных представлений, сред и экосистем клиентов и людей, а также новых режимов взаимодействия с пользователями. С помощью этих технологий люди могут контролировать свою собственную личность и данные и испытывать виртуальные экосистемы, которые могут быть интегрированы с цифровыми валютами. Эти технологии помогают привлечь клиентов новыми способами для укрепления или открытия новых источников дохода.</a:t>
            </a:r>
          </a:p>
          <a:p>
            <a:pPr marL="158750" indent="0" algn="l">
              <a:buNone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Технологии, которые обеспечивают развивающийся и расширяющийся захватывающий опыт, - это </a:t>
            </a:r>
            <a:r>
              <a:rPr lang="ru-RU" b="0" i="0" u="none" strike="noStrike" dirty="0">
                <a:solidFill>
                  <a:srgbClr val="0052D6"/>
                </a:solidFill>
                <a:effectLst/>
                <a:latin typeface="+mj-lt"/>
                <a:hlinkClick r:id="rId9"/>
              </a:rPr>
              <a:t>метавселенная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, незаменяемые токены (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+mj-lt"/>
              </a:rPr>
              <a:t>NFT),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суперприложения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 и 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+mj-lt"/>
              </a:rPr>
              <a:t>Web3,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децентрализованная идентификация, цифровые люди, цифровой двойник клиента и внутренние рынки талантов.</a:t>
            </a:r>
          </a:p>
          <a:p>
            <a:pPr marL="158750" indent="0" algn="l">
              <a:buNone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j-lt"/>
              </a:rPr>
              <a:t>Ускоренная автоматизация искусственного интеллекта: 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внедрение искусственного интеллекта расширяется как неотъемлемая часть продуктов, услуг и решений. Это ускоряет создание специализированных моделей искусственного интеллекта, которые могут быть применены для автоматизации разработки, обучения и развертывания моделей. Автоматизация искусственного интеллекта переориентирует роль людей в разработке искусственного интеллекта, что приводит к более точным прогнозам и решениям и более быстрому времени для получения ожидаемых выгод.</a:t>
            </a:r>
          </a:p>
          <a:p>
            <a:pPr marL="158750" indent="0" algn="l">
              <a:buNone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Технологии, поддерживающие ускоренную автоматизацию искусственного интеллекта, - это автономные системы, причинно-следственный ИИ, базовые модели, генеративный дизайн ИИ и генерация кода машинного обучения.</a:t>
            </a:r>
          </a:p>
          <a:p>
            <a:pPr marL="158750" indent="0" algn="l">
              <a:buNone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+mj-lt"/>
              </a:rPr>
              <a:t>Оптимизированная доставка технологов: 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Успешные цифровые предприятия создаются, а не покупаются. Набор новых технологий фокусируется на сообществах разработчиков продуктов, услуг и решений, таких как </a:t>
            </a:r>
            <a:r>
              <a:rPr lang="ru-RU" b="0" i="0" u="none" strike="noStrike" dirty="0">
                <a:solidFill>
                  <a:srgbClr val="0052D6"/>
                </a:solidFill>
                <a:effectLst/>
                <a:latin typeface="+mj-lt"/>
                <a:hlinkClick r:id="rId10"/>
              </a:rPr>
              <a:t>команды по слиянию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+mj-lt"/>
              </a:rPr>
              <a:t>, и платформы, которые они используют. Эти технологии обеспечивают обратную связь и понимание, которые оптимизируют и ускоряют доставку продуктов, услуг и решений, а также повышают устойчивость бизнес-операций.</a:t>
            </a:r>
            <a:endParaRPr lang="en-US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marL="158750" indent="0" algn="l" fontAlgn="base">
              <a:buNone/>
            </a:pPr>
            <a:endParaRPr lang="ru-RU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 fontAlgn="base">
              <a:buNone/>
            </a:pPr>
            <a:endParaRPr lang="ru-RU" b="0" i="0" u="none" strike="noStrike" dirty="0">
              <a:solidFill>
                <a:srgbClr val="1D1D1D"/>
              </a:solidFill>
              <a:effectLst/>
              <a:latin typeface="Didact Gothic" pitchFamily="2" charset="0"/>
            </a:endParaRPr>
          </a:p>
          <a:p>
            <a:pPr marL="158750" indent="0" algn="l">
              <a:buNone/>
            </a:pPr>
            <a:endParaRPr lang="ru-RU" b="0" i="0" u="none" strike="noStrike" dirty="0">
              <a:solidFill>
                <a:srgbClr val="000000"/>
              </a:solidFill>
              <a:effectLst/>
              <a:latin typeface="Didact Gothic" pitchFamily="2" charset="0"/>
            </a:endParaRPr>
          </a:p>
          <a:p>
            <a:pPr marL="158750" indent="0">
              <a:buNone/>
            </a:pPr>
            <a:endParaRPr lang="ru-RU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86392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https://</a:t>
            </a:r>
            <a:r>
              <a:rPr lang="en" dirty="0" err="1"/>
              <a:t>www.gartner.com</a:t>
            </a:r>
            <a:r>
              <a:rPr lang="en" dirty="0"/>
              <a:t>/</a:t>
            </a:r>
            <a:r>
              <a:rPr lang="en" dirty="0" err="1"/>
              <a:t>en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rb.ru</a:t>
            </a:r>
            <a:r>
              <a:rPr lang="en" dirty="0"/>
              <a:t>/tag/technology/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ec.europa.eu</a:t>
            </a:r>
            <a:r>
              <a:rPr lang="en" dirty="0"/>
              <a:t>/Eurostat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data.un.org</a:t>
            </a:r>
            <a:r>
              <a:rPr lang="en" dirty="0"/>
              <a:t>/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data.worldbank.org</a:t>
            </a:r>
            <a:r>
              <a:rPr lang="en" dirty="0"/>
              <a:t>/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datasetsearch.research.google.com</a:t>
            </a:r>
            <a:r>
              <a:rPr lang="en" dirty="0"/>
              <a:t>/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explodingtopics.com</a:t>
            </a:r>
            <a:r>
              <a:rPr lang="en" dirty="0"/>
              <a:t>/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www.boardofinnovation.com</a:t>
            </a:r>
            <a:r>
              <a:rPr lang="en" dirty="0"/>
              <a:t>/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fastfounder.ru</a:t>
            </a:r>
            <a:r>
              <a:rPr lang="en" dirty="0"/>
              <a:t>/</a:t>
            </a:r>
            <a:endParaRPr lang="ru-RU" dirty="0"/>
          </a:p>
          <a:p>
            <a:r>
              <a:rPr lang="en" dirty="0"/>
              <a:t>https://</a:t>
            </a:r>
            <a:r>
              <a:rPr lang="en" dirty="0" err="1"/>
              <a:t>www.statista.com</a:t>
            </a:r>
            <a:r>
              <a:rPr lang="en" dirty="0"/>
              <a:t>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52529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7" name="Google Shape;977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65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6" name="Google Shape;1016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017" name="Google Shape;1017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66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f9e43925e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4" name="Google Shape;1024;g3f9e43925ec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025" name="Google Shape;1025;g3f9e43925ec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67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038" name="Google Shape;103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1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71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1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1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71"/>
          <p:cNvSpPr txBox="1">
            <a:spLocks noGrp="1"/>
          </p:cNvSpPr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1"/>
          <p:cNvSpPr txBox="1">
            <a:spLocks noGrp="1"/>
          </p:cNvSpPr>
          <p:nvPr>
            <p:ph type="body" idx="1"/>
          </p:nvPr>
        </p:nvSpPr>
        <p:spPr>
          <a:xfrm>
            <a:off x="609599" y="1386883"/>
            <a:ext cx="11185500" cy="4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marL="274320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3"/>
          <p:cNvSpPr txBox="1">
            <a:spLocks noGrp="1"/>
          </p:cNvSpPr>
          <p:nvPr>
            <p:ph type="title"/>
          </p:nvPr>
        </p:nvSpPr>
        <p:spPr>
          <a:xfrm>
            <a:off x="5396233" y="3429300"/>
            <a:ext cx="58448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73"/>
          <p:cNvSpPr txBox="1">
            <a:spLocks noGrp="1"/>
          </p:cNvSpPr>
          <p:nvPr>
            <p:ph type="title" idx="2"/>
          </p:nvPr>
        </p:nvSpPr>
        <p:spPr>
          <a:xfrm>
            <a:off x="5396233" y="1762633"/>
            <a:ext cx="1776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73"/>
          <p:cNvSpPr>
            <a:spLocks noGrp="1"/>
          </p:cNvSpPr>
          <p:nvPr>
            <p:ph type="pic" idx="3"/>
          </p:nvPr>
        </p:nvSpPr>
        <p:spPr>
          <a:xfrm>
            <a:off x="950967" y="719333"/>
            <a:ext cx="3680800" cy="541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7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7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" name="Google Shape;72;p8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8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8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4464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hatiscentralbank.hse.ru/3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seminar-kadry.ru/seminar?kind=videoTraining&amp;rubric=&amp;city=?utm_medium=refer&amp;utm_source=www.hr-director.ru&amp;utm_campaign=PW_LastHope&amp;utm_term=PW_LastHope_tor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r-director.ru/article/67788-analiz-rynka-truda-rukovodstvo-dlya-hr-a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client=safari&amp;sca_esv=81be61c3dad309e5&amp;rls=en&amp;biw=1440&amp;bih=820&amp;sxsrf=AE3TifNeFj87m-9M96V3qiYTbzcjZRDZHA%3A1758194891200&amp;q=%D0%9A%D1%83%D0%B1%D0%B0&amp;sa=X&amp;ved=2ahUKEwiulr6vmuKPAxVUbKQEHZvCEO8QxccNegQIRRAB&amp;mstk=AUtExfCGDcEd8rO3ERD8gQwIzoELMj8FYqVNDPE_DV9-xu-sSBqHki47qMmYpH_iEsLetGJSIZV-fwfietIlsgb4cL8B_kmE-JR_-h-pyi1149moj96HQivXivGuVU8LKour653MGse92Pjvv19U97wFithraN4Npx5hXBMaGWraZVzx4E6A5lMlrCMYOdb_fwMnLegMf7dd8z4sGsNddXe-EIC7KgLulbJeyx0Cuyl0lnbkBtVFQg6a3JBxW04VyHcs_NqAU5vQN52JidgePomGZChE7XBjPQcRvPJ7RGISOii2GQ&amp;csui=3" TargetMode="External"/><Relationship Id="rId3" Type="http://schemas.openxmlformats.org/officeDocument/2006/relationships/image" Target="../media/image25.jpg"/><Relationship Id="rId7" Type="http://schemas.openxmlformats.org/officeDocument/2006/relationships/hyperlink" Target="https://www.google.com/search?client=safari&amp;sca_esv=81be61c3dad309e5&amp;rls=en&amp;biw=1440&amp;bih=820&amp;sxsrf=AE3TifNeFj87m-9M96V3qiYTbzcjZRDZHA%3A1758194891200&amp;q=%D0%A1%D0%B5%D0%B2%D0%B5%D1%80%D0%BD%D0%B0%D1%8F+%D0%9A%D0%BE%D1%80%D0%B5%D1%8F&amp;sa=X&amp;ved=2ahUKEwiulr6vmuKPAxVUbKQEHZvCEO8QxccNegQIRBAB&amp;mstk=AUtExfCGDcEd8rO3ERD8gQwIzoELMj8FYqVNDPE_DV9-xu-sSBqHki47qMmYpH_iEsLetGJSIZV-fwfietIlsgb4cL8B_kmE-JR_-h-pyi1149moj96HQivXivGuVU8LKour653MGse92Pjvv19U97wFithraN4Npx5hXBMaGWraZVzx4E6A5lMlrCMYOdb_fwMnLegMf7dd8z4sGsNddXe-EIC7KgLulbJeyx0Cuyl0lnbkBtVFQg6a3JBxW04VyHcs_NqAU5vQN52JidgePomGZChE7XBjPQcRvPJ7RGISOii2GQ&amp;csui=3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client=safari&amp;sca_esv=81be61c3dad309e5&amp;rls=en&amp;biw=1440&amp;bih=820&amp;sxsrf=AE3TifNeFj87m-9M96V3qiYTbzcjZRDZHA%3A1758194891200&amp;q=%D0%92%D1%8C%D0%B5%D1%82%D0%BD%D0%B0%D0%BC&amp;sa=X&amp;ved=2ahUKEwiulr6vmuKPAxVUbKQEHZvCEO8QxccNegQISBAD&amp;mstk=AUtExfCGDcEd8rO3ERD8gQwIzoELMj8FYqVNDPE_DV9-xu-sSBqHki47qMmYpH_iEsLetGJSIZV-fwfietIlsgb4cL8B_kmE-JR_-h-pyi1149moj96HQivXivGuVU8LKour653MGse92Pjvv19U97wFithraN4Npx5hXBMaGWraZVzx4E6A5lMlrCMYOdb_fwMnLegMf7dd8z4sGsNddXe-EIC7KgLulbJeyx0Cuyl0lnbkBtVFQg6a3JBxW04VyHcs_NqAU5vQN52JidgePomGZChE7XBjPQcRvPJ7RGISOii2GQ&amp;csui=3" TargetMode="External"/><Relationship Id="rId5" Type="http://schemas.openxmlformats.org/officeDocument/2006/relationships/hyperlink" Target="https://www.google.com/search?client=safari&amp;sca_esv=81be61c3dad309e5&amp;rls=en&amp;biw=1440&amp;bih=820&amp;sxsrf=AE3TifNeFj87m-9M96V3qiYTbzcjZRDZHA%3A1758194891200&amp;q=%D0%9A%D0%B8%D1%82%D0%B0%D0%B9&amp;sa=X&amp;ved=2ahUKEwiulr6vmuKPAxVUbKQEHZvCEO8QxccNegQISBAC&amp;mstk=AUtExfCGDcEd8rO3ERD8gQwIzoELMj8FYqVNDPE_DV9-xu-sSBqHki47qMmYpH_iEsLetGJSIZV-fwfietIlsgb4cL8B_kmE-JR_-h-pyi1149moj96HQivXivGuVU8LKour653MGse92Pjvv19U97wFithraN4Npx5hXBMaGWraZVzx4E6A5lMlrCMYOdb_fwMnLegMf7dd8z4sGsNddXe-EIC7KgLulbJeyx0Cuyl0lnbkBtVFQg6a3JBxW04VyHcs_NqAU5vQN52JidgePomGZChE7XBjPQcRvPJ7RGISOii2GQ&amp;csui=3" TargetMode="External"/><Relationship Id="rId4" Type="http://schemas.openxmlformats.org/officeDocument/2006/relationships/hyperlink" Target="https://www.google.com/search?client=safari&amp;sca_esv=81be61c3dad309e5&amp;rls=en&amp;biw=1440&amp;bih=820&amp;sxsrf=AE3TifNeFj87m-9M96V3qiYTbzcjZRDZHA%3A1758194891200&amp;q=%D0%98%D0%BD%D0%B4%D0%B8%D1%8F&amp;sa=X&amp;ved=2ahUKEwiulr6vmuKPAxVUbKQEHZvCEO8QxccNegQISBAB&amp;mstk=AUtExfCGDcEd8rO3ERD8gQwIzoELMj8FYqVNDPE_DV9-xu-sSBqHki47qMmYpH_iEsLetGJSIZV-fwfietIlsgb4cL8B_kmE-JR_-h-pyi1149moj96HQivXivGuVU8LKour653MGse92Pjvv19U97wFithraN4Npx5hXBMaGWraZVzx4E6A5lMlrCMYOdb_fwMnLegMf7dd8z4sGsNddXe-EIC7KgLulbJeyx0Cuyl0lnbkBtVFQg6a3JBxW04VyHcs_NqAU5vQN52JidgePomGZChE7XBjPQcRvPJ7RGISOii2GQ&amp;csui=3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whatiscentralbank.hse.ru/3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seminar-kadry.ru/seminar?kind=videoTraining&amp;rubric=&amp;city=?utm_medium=refer&amp;utm_source=www.hr-director.ru&amp;utm_campaign=PW_LastHope&amp;utm_term=PW_LastHope_tor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r-director.ru/article/67788-analiz-rynka-truda-rukovodstvo-dlya-hr-a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un.org/" TargetMode="External"/><Relationship Id="rId13" Type="http://schemas.openxmlformats.org/officeDocument/2006/relationships/hyperlink" Target="https://fastfounder.ru/" TargetMode="External"/><Relationship Id="rId3" Type="http://schemas.openxmlformats.org/officeDocument/2006/relationships/image" Target="../media/image35.png"/><Relationship Id="rId7" Type="http://schemas.openxmlformats.org/officeDocument/2006/relationships/hyperlink" Target="https://ec.europa.eu/eurostat" TargetMode="External"/><Relationship Id="rId12" Type="http://schemas.openxmlformats.org/officeDocument/2006/relationships/hyperlink" Target="https://www.boardofinnovation.com/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statista.com/" TargetMode="External"/><Relationship Id="rId11" Type="http://schemas.openxmlformats.org/officeDocument/2006/relationships/hyperlink" Target="https://explodingtopics.com/" TargetMode="External"/><Relationship Id="rId5" Type="http://schemas.openxmlformats.org/officeDocument/2006/relationships/hyperlink" Target="https://rb.ru/tag/technology/" TargetMode="External"/><Relationship Id="rId10" Type="http://schemas.openxmlformats.org/officeDocument/2006/relationships/hyperlink" Target="https://datasetsearch.research.google.com/" TargetMode="External"/><Relationship Id="rId4" Type="http://schemas.openxmlformats.org/officeDocument/2006/relationships/hyperlink" Target="https://www.gartner.com/en" TargetMode="External"/><Relationship Id="rId9" Type="http://schemas.openxmlformats.org/officeDocument/2006/relationships/hyperlink" Target="https://data.worldbank.org/" TargetMode="Externa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11517715" y="2315909"/>
            <a:ext cx="357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title"/>
          </p:nvPr>
        </p:nvSpPr>
        <p:spPr>
          <a:xfrm>
            <a:off x="583050" y="2801147"/>
            <a:ext cx="110259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Calibri"/>
              <a:buNone/>
            </a:pPr>
            <a:br>
              <a:rPr lang="ru-RU" sz="3200" b="1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3500" b="1">
                <a:solidFill>
                  <a:srgbClr val="1E1E1E"/>
                </a:solidFill>
              </a:rPr>
              <a:t>ВВЕДЕНИЕ В ТЕХНОЛОГИЧЕСКОЕ ПРЕДПРИНИМАТЕЛЬСТВО</a:t>
            </a:r>
            <a:r>
              <a:rPr lang="ru-RU" sz="2300" b="1">
                <a:solidFill>
                  <a:srgbClr val="1E1E1E"/>
                </a:solidFill>
              </a:rPr>
              <a:t> </a:t>
            </a:r>
            <a:endParaRPr sz="3600" b="1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048000" y="6048007"/>
            <a:ext cx="6096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ru-RU" sz="1900" b="0" i="0" u="none" strike="noStrike" cap="none">
                <a:solidFill>
                  <a:srgbClr val="1E1E1E"/>
                </a:solidFill>
                <a:latin typeface="Golos Text"/>
                <a:ea typeface="Golos Text"/>
                <a:cs typeface="Golos Text"/>
                <a:sym typeface="Golos Text"/>
              </a:rPr>
              <a:t>2026</a:t>
            </a:r>
            <a:endParaRPr sz="2100" b="0" i="0" u="none" strike="noStrike" cap="none">
              <a:solidFill>
                <a:srgbClr val="1E1E1E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56661" y="4456140"/>
            <a:ext cx="5978502" cy="359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title="Снимок экрана 2025-05-19 в 23.05.4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9417" y="512267"/>
            <a:ext cx="2093167" cy="10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 title="Снимок экрана 2025-05-19 в 23.06.09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47633" y="0"/>
            <a:ext cx="3944367" cy="1838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858922">
            <a:off x="8151825" y="-1293686"/>
            <a:ext cx="5245227" cy="442552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2993025" y="5329929"/>
            <a:ext cx="6713100" cy="70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-RU" sz="2000" b="1" dirty="0">
                <a:solidFill>
                  <a:srgbClr val="1E1E1E"/>
                </a:solidFill>
                <a:latin typeface="Golos Text"/>
                <a:ea typeface="Golos Text"/>
                <a:cs typeface="Golos Text"/>
                <a:sym typeface="Golos Text"/>
              </a:rPr>
              <a:t>Фамилия Имя Отчество</a:t>
            </a:r>
            <a:r>
              <a:rPr lang="ru-RU" sz="2000" b="1" i="0" u="none" strike="noStrike" cap="none" dirty="0">
                <a:solidFill>
                  <a:srgbClr val="1E1E1E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lang="ru-RU" sz="2000" b="0" i="0" u="none" strike="noStrike" cap="none" dirty="0">
                <a:solidFill>
                  <a:srgbClr val="1E1E1E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sz="2000" b="0" i="0" u="none" strike="noStrike" cap="none" dirty="0">
              <a:solidFill>
                <a:srgbClr val="1E1E1E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-RU" sz="1800" dirty="0">
                <a:solidFill>
                  <a:srgbClr val="1E1E1E"/>
                </a:solidFill>
                <a:latin typeface="Times New Roman" panose="02020603050405020304" pitchFamily="18" charset="0"/>
                <a:ea typeface="Golos Text"/>
                <a:cs typeface="Times New Roman" panose="02020603050405020304" pitchFamily="18" charset="0"/>
                <a:sym typeface="Golos Text"/>
              </a:rPr>
              <a:t>Антипов Антон Александрович, доцент ЦРИИС ИТМО </a:t>
            </a:r>
            <a:endParaRPr sz="1800" b="0" i="0" u="none" strike="noStrike" cap="none" dirty="0">
              <a:solidFill>
                <a:srgbClr val="1E1E1E"/>
              </a:solidFill>
              <a:latin typeface="Times New Roman" panose="02020603050405020304" pitchFamily="18" charset="0"/>
              <a:ea typeface="Golos Text"/>
              <a:cs typeface="Times New Roman" panose="02020603050405020304" pitchFamily="18" charset="0"/>
              <a:sym typeface="Golos Text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4131675" y="4433224"/>
            <a:ext cx="4435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Лекция 1 – Основы рыночной экономики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b="1"/>
              <a:t>О преподавателе…</a:t>
            </a:r>
            <a:endParaRPr/>
          </a:p>
        </p:txBody>
      </p:sp>
      <p:cxnSp>
        <p:nvCxnSpPr>
          <p:cNvPr id="113" name="Google Shape;113;p2"/>
          <p:cNvCxnSpPr/>
          <p:nvPr/>
        </p:nvCxnSpPr>
        <p:spPr>
          <a:xfrm>
            <a:off x="914400" y="3806567"/>
            <a:ext cx="7315200" cy="0"/>
          </a:xfrm>
          <a:prstGeom prst="straightConnector1">
            <a:avLst/>
          </a:prstGeom>
          <a:noFill/>
          <a:ln w="28575" cap="flat" cmpd="sng">
            <a:solidFill>
              <a:srgbClr val="9CFB0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ACB4A-F1DA-3FAF-AA59-B38A7C15B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981" y="1086767"/>
            <a:ext cx="10515600" cy="1325563"/>
          </a:xfrm>
        </p:spPr>
        <p:txBody>
          <a:bodyPr>
            <a:normAutofit/>
          </a:bodyPr>
          <a:lstStyle/>
          <a:p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Антипов Антон Александрович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AFBCC8-6D57-CD01-986B-1719A9FEB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981" y="2980754"/>
            <a:ext cx="6251944" cy="285960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200" dirty="0"/>
              <a:t>Доцент, </a:t>
            </a:r>
            <a:r>
              <a:rPr lang="ru-RU" sz="2200" dirty="0" err="1"/>
              <a:t>к.фил.н</a:t>
            </a:r>
            <a:r>
              <a:rPr lang="ru-RU" sz="2200" dirty="0"/>
              <a:t>., ординарный доцент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/>
              <a:t>центра развития института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/>
              <a:t>интеллектуальной собственности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/>
              <a:t>Университета ИТМО </a:t>
            </a:r>
          </a:p>
          <a:p>
            <a:pPr marL="0" indent="0">
              <a:buNone/>
            </a:pPr>
            <a:endParaRPr lang="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D863C-AABF-26B8-5766-C63DA50A30C0}"/>
              </a:ext>
            </a:extLst>
          </p:cNvPr>
          <p:cNvSpPr txBox="1"/>
          <p:nvPr/>
        </p:nvSpPr>
        <p:spPr>
          <a:xfrm>
            <a:off x="935665" y="5635255"/>
            <a:ext cx="2943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+7-931-230-75-05</a:t>
            </a:r>
          </a:p>
          <a:p>
            <a:r>
              <a:rPr lang="ru-RU" sz="2400" dirty="0"/>
              <a:t>aantipov80@itmo.ru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D7DDFE2-25C2-9D76-2DA0-936A0E24D656}"/>
              </a:ext>
            </a:extLst>
          </p:cNvPr>
          <p:cNvSpPr/>
          <p:nvPr/>
        </p:nvSpPr>
        <p:spPr>
          <a:xfrm>
            <a:off x="1376584" y="1490639"/>
            <a:ext cx="3326092" cy="30207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pic>
        <p:nvPicPr>
          <p:cNvPr id="9" name="Изображение 8" descr="t_me-7931230750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25" y="2120459"/>
            <a:ext cx="2130867" cy="4611416"/>
          </a:xfrm>
          <a:prstGeom prst="rect">
            <a:avLst/>
          </a:prstGeom>
        </p:spPr>
      </p:pic>
      <p:pic>
        <p:nvPicPr>
          <p:cNvPr id="6" name="Изображение 5" descr="pSAM_5249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67" y="1818009"/>
            <a:ext cx="1850327" cy="237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4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ru-RU" b="1"/>
              <a:t>О дисциплине…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5"/>
          <p:cNvCxnSpPr/>
          <p:nvPr/>
        </p:nvCxnSpPr>
        <p:spPr>
          <a:xfrm>
            <a:off x="914400" y="3806567"/>
            <a:ext cx="7315200" cy="0"/>
          </a:xfrm>
          <a:prstGeom prst="straightConnector1">
            <a:avLst/>
          </a:prstGeom>
          <a:noFill/>
          <a:ln w="28575" cap="flat" cmpd="sng">
            <a:solidFill>
              <a:srgbClr val="9CFB0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>
            <a:spLocks noGrp="1"/>
          </p:cNvSpPr>
          <p:nvPr>
            <p:ph type="title"/>
          </p:nvPr>
        </p:nvSpPr>
        <p:spPr>
          <a:xfrm>
            <a:off x="614680" y="8137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ru-RU" b="1"/>
              <a:t>Введение в технологическое предпринимательство</a:t>
            </a:r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body" idx="1"/>
          </p:nvPr>
        </p:nvSpPr>
        <p:spPr>
          <a:xfrm>
            <a:off x="1541720" y="2402957"/>
            <a:ext cx="10014098" cy="350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2400"/>
              <a:t>Курс предназначен для студентов, желающих развить деловые, предпринимательские и творческие навыки, необходимые для трудоустройства и работы в командах. 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2400"/>
              <a:t>В процессе обучения вы изучите какие есть методологии, методы, а также инструменты анализа рынка и потребителя, какие существуют сектора экономики, разберете успешные примеры компаний и стартапов, а также разовьете критическое мышление, н</a:t>
            </a:r>
            <a:r>
              <a:rPr lang="ru-RU" sz="2400">
                <a:solidFill>
                  <a:srgbClr val="000000"/>
                </a:solidFill>
              </a:rPr>
              <a:t>авыки командной работы</a:t>
            </a:r>
            <a:r>
              <a:rPr lang="ru-RU" sz="2400"/>
              <a:t> и принципы реализации идей</a:t>
            </a:r>
            <a:r>
              <a:rPr lang="ru-RU" sz="2400">
                <a:solidFill>
                  <a:srgbClr val="000000"/>
                </a:solidFill>
              </a:rPr>
              <a:t> через практические задания.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>
            <a:spLocks noGrp="1"/>
          </p:cNvSpPr>
          <p:nvPr>
            <p:ph type="title"/>
          </p:nvPr>
        </p:nvSpPr>
        <p:spPr>
          <a:xfrm>
            <a:off x="398600" y="4833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ru-RU" b="1"/>
              <a:t>Структура курса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469978" y="2086104"/>
            <a:ext cx="4413739" cy="77115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этап: </a:t>
            </a: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ru-RU" sz="17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Основы рыночной экономики</a:t>
            </a:r>
            <a:endParaRPr sz="1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469977" y="3053258"/>
            <a:ext cx="4413739" cy="77115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этап: 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Механика современного бизнеса: от потребителя до предпринимательской культуры</a:t>
            </a:r>
            <a:endParaRPr dirty="0"/>
          </a:p>
        </p:txBody>
      </p:sp>
      <p:sp>
        <p:nvSpPr>
          <p:cNvPr id="174" name="Google Shape;174;p8"/>
          <p:cNvSpPr/>
          <p:nvPr/>
        </p:nvSpPr>
        <p:spPr>
          <a:xfrm>
            <a:off x="1469977" y="4020412"/>
            <a:ext cx="4413739" cy="77115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этап: 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Основы бизнес-моделирования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258860" y="2086104"/>
            <a:ext cx="4413739" cy="7711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Погрузимся в о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сновные понятия рынка, законов.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58859" y="3053258"/>
            <a:ext cx="4413739" cy="7711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Изучим, с чего начинается бизнес и как создавать предпринимательскую среду.</a:t>
            </a:r>
            <a:endParaRPr dirty="0"/>
          </a:p>
        </p:txBody>
      </p:sp>
      <p:sp>
        <p:nvSpPr>
          <p:cNvPr id="177" name="Google Shape;177;p8"/>
          <p:cNvSpPr/>
          <p:nvPr/>
        </p:nvSpPr>
        <p:spPr>
          <a:xfrm>
            <a:off x="6258859" y="4020412"/>
            <a:ext cx="4413739" cy="7711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Разберем о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сновные шаблоны, существующие бизнес-модели и полезные методики.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469976" y="4987566"/>
            <a:ext cx="4413739" cy="77115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ru-RU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ru-RU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этап: 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Основы продуктового маркетинга 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258858" y="4987566"/>
            <a:ext cx="4413739" cy="7711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Посмотрим, что делать, чтобы бизнес не прогорел, и какими инструментами необходимо пользоваться.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>
            <a:spLocks noGrp="1"/>
          </p:cNvSpPr>
          <p:nvPr>
            <p:ph type="title"/>
          </p:nvPr>
        </p:nvSpPr>
        <p:spPr>
          <a:xfrm>
            <a:off x="553720" y="4688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ru-RU" b="1"/>
              <a:t>Структура курса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81188" y="2392647"/>
            <a:ext cx="4413739" cy="77115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этап: 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Сектора инновационной экономики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581187" y="3359801"/>
            <a:ext cx="4413739" cy="77115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ru-RU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ru-RU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этап: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Основы финансовой и инвестиционной модели 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370070" y="2392647"/>
            <a:ext cx="4413739" cy="7711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Пробежимся по в</a:t>
            </a: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остребованным секторам инновационной экономики, статистике прошлого, настоящего и будущего.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370069" y="3359801"/>
            <a:ext cx="4413739" cy="7711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Изучим основные показатели и шаблоны для формирования качественных расчетов.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581187" y="4326955"/>
            <a:ext cx="4413739" cy="77115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этап: 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Проектирование идей: основы и методологии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370069" y="4326955"/>
            <a:ext cx="4413739" cy="77115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Погрузимся в о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сновы и методы генерации идей. 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/>
              <a:t>Дисциплина разделена на…</a:t>
            </a:r>
            <a:endParaRPr dirty="0"/>
          </a:p>
        </p:txBody>
      </p:sp>
      <p:sp>
        <p:nvSpPr>
          <p:cNvPr id="134" name="Google Shape;134;p69"/>
          <p:cNvSpPr/>
          <p:nvPr/>
        </p:nvSpPr>
        <p:spPr>
          <a:xfrm>
            <a:off x="3936395" y="2612059"/>
            <a:ext cx="2578800" cy="2578800"/>
          </a:xfrm>
          <a:prstGeom prst="ellipse">
            <a:avLst/>
          </a:prstGeom>
          <a:solidFill>
            <a:srgbClr val="9CFB0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9"/>
          <p:cNvSpPr/>
          <p:nvPr/>
        </p:nvSpPr>
        <p:spPr>
          <a:xfrm>
            <a:off x="5225825" y="2612059"/>
            <a:ext cx="2578800" cy="2578800"/>
          </a:xfrm>
          <a:prstGeom prst="ellipse">
            <a:avLst/>
          </a:prstGeom>
          <a:solidFill>
            <a:srgbClr val="9CFB0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9"/>
          <p:cNvSpPr txBox="1"/>
          <p:nvPr/>
        </p:nvSpPr>
        <p:spPr>
          <a:xfrm>
            <a:off x="1420619" y="3494375"/>
            <a:ext cx="25788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ru-RU" sz="3333" b="1" i="0" u="none" strike="noStrike" cap="none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Лекции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9"/>
          <p:cNvSpPr txBox="1"/>
          <p:nvPr/>
        </p:nvSpPr>
        <p:spPr>
          <a:xfrm>
            <a:off x="8625049" y="3513803"/>
            <a:ext cx="26415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ru-RU" sz="3333" b="1" i="0" u="none" strike="noStrike" cap="none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Практики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9"/>
          <p:cNvSpPr/>
          <p:nvPr/>
        </p:nvSpPr>
        <p:spPr>
          <a:xfrm rot="-5400000">
            <a:off x="5783245" y="4028662"/>
            <a:ext cx="222639" cy="296848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115D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9"/>
          <p:cNvSpPr txBox="1"/>
          <p:nvPr/>
        </p:nvSpPr>
        <p:spPr>
          <a:xfrm>
            <a:off x="3420133" y="5608323"/>
            <a:ext cx="503375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rgbClr val="681DA8"/>
                </a:solidFill>
                <a:latin typeface="Didact Gothic"/>
                <a:ea typeface="Didact Gothic"/>
                <a:cs typeface="Didact Gothic"/>
                <a:sym typeface="Didact Gothic"/>
              </a:rPr>
              <a:t>максимальное кол-во баллов до экзамена </a:t>
            </a:r>
            <a:endParaRPr sz="1400" b="0" i="0" u="none" strike="noStrike" cap="none" dirty="0">
              <a:solidFill>
                <a:srgbClr val="681DA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9"/>
          <p:cNvSpPr txBox="1"/>
          <p:nvPr/>
        </p:nvSpPr>
        <p:spPr>
          <a:xfrm>
            <a:off x="3936395" y="6039200"/>
            <a:ext cx="386815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Didact Gothic"/>
                <a:cs typeface="Times New Roman" panose="02020603050405020304" pitchFamily="18" charset="0"/>
                <a:sym typeface="Didact Gothic"/>
              </a:rPr>
              <a:t>80 баллов</a:t>
            </a:r>
            <a:r>
              <a:rPr lang="ru-RU" sz="2000" b="1" dirty="0">
                <a:solidFill>
                  <a:schemeClr val="dk1"/>
                </a:solidFill>
                <a:latin typeface="Times New Roman" panose="02020603050405020304" pitchFamily="18" charset="0"/>
                <a:ea typeface="Didact Gothic"/>
                <a:cs typeface="Times New Roman" panose="02020603050405020304" pitchFamily="18" charset="0"/>
                <a:sym typeface="Didact Gothic"/>
              </a:rPr>
              <a:t>: 56 баллов практики + 24 балла тесты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1" name="Google Shape;141;p69"/>
          <p:cNvSpPr/>
          <p:nvPr/>
        </p:nvSpPr>
        <p:spPr>
          <a:xfrm>
            <a:off x="5223032" y="2750794"/>
            <a:ext cx="1291252" cy="2234189"/>
          </a:xfrm>
          <a:custGeom>
            <a:avLst/>
            <a:gdLst/>
            <a:ahLst/>
            <a:cxnLst/>
            <a:rect l="l" t="t" r="r" b="b"/>
            <a:pathLst>
              <a:path w="1282700" h="2219393" extrusionOk="0">
                <a:moveTo>
                  <a:pt x="641350" y="0"/>
                </a:moveTo>
                <a:lnTo>
                  <a:pt x="717170" y="46061"/>
                </a:lnTo>
                <a:cubicBezTo>
                  <a:pt x="1058371" y="276572"/>
                  <a:pt x="1282700" y="666936"/>
                  <a:pt x="1282700" y="1109696"/>
                </a:cubicBezTo>
                <a:cubicBezTo>
                  <a:pt x="1282700" y="1552456"/>
                  <a:pt x="1058371" y="1942821"/>
                  <a:pt x="717170" y="2173331"/>
                </a:cubicBezTo>
                <a:lnTo>
                  <a:pt x="641350" y="2219393"/>
                </a:lnTo>
                <a:lnTo>
                  <a:pt x="565530" y="2173331"/>
                </a:lnTo>
                <a:cubicBezTo>
                  <a:pt x="224330" y="1942821"/>
                  <a:pt x="0" y="1552456"/>
                  <a:pt x="0" y="1109696"/>
                </a:cubicBezTo>
                <a:cubicBezTo>
                  <a:pt x="0" y="666936"/>
                  <a:pt x="224330" y="276572"/>
                  <a:pt x="565530" y="46061"/>
                </a:cubicBezTo>
                <a:lnTo>
                  <a:pt x="641350" y="0"/>
                </a:lnTo>
                <a:close/>
              </a:path>
            </a:pathLst>
          </a:cu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9"/>
          <p:cNvSpPr txBox="1"/>
          <p:nvPr/>
        </p:nvSpPr>
        <p:spPr>
          <a:xfrm>
            <a:off x="5199168" y="3406148"/>
            <a:ext cx="1315116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20 баллов</a:t>
            </a:r>
            <a:endParaRPr sz="2400" b="0" i="0" u="none" strike="noStrike" cap="none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43" name="Google Shape;143;p69"/>
          <p:cNvSpPr txBox="1"/>
          <p:nvPr/>
        </p:nvSpPr>
        <p:spPr>
          <a:xfrm>
            <a:off x="5244221" y="1551750"/>
            <a:ext cx="158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Экзамен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69"/>
          <p:cNvCxnSpPr/>
          <p:nvPr/>
        </p:nvCxnSpPr>
        <p:spPr>
          <a:xfrm>
            <a:off x="5867484" y="2258171"/>
            <a:ext cx="0" cy="486856"/>
          </a:xfrm>
          <a:prstGeom prst="straightConnector1">
            <a:avLst/>
          </a:prstGeom>
          <a:noFill/>
          <a:ln w="9525" cap="flat" cmpd="sng">
            <a:solidFill>
              <a:srgbClr val="115D8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5" name="Google Shape;145;p69"/>
          <p:cNvSpPr txBox="1"/>
          <p:nvPr/>
        </p:nvSpPr>
        <p:spPr>
          <a:xfrm>
            <a:off x="4881251" y="1875148"/>
            <a:ext cx="1965603" cy="29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ru-RU" sz="1333" b="0" i="0" u="none" strike="noStrike" cap="none" dirty="0">
                <a:solidFill>
                  <a:srgbClr val="681DA8"/>
                </a:solidFill>
                <a:latin typeface="Didact Gothic"/>
                <a:ea typeface="Didact Gothic"/>
                <a:cs typeface="Didact Gothic"/>
                <a:sym typeface="Didact Gothic"/>
              </a:rPr>
              <a:t>в формате бизнес-игры</a:t>
            </a:r>
            <a:endParaRPr sz="1400" b="0" i="0" u="none" strike="noStrike" cap="none" dirty="0">
              <a:solidFill>
                <a:srgbClr val="681DA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9"/>
          <p:cNvSpPr txBox="1"/>
          <p:nvPr/>
        </p:nvSpPr>
        <p:spPr>
          <a:xfrm>
            <a:off x="1695701" y="4233048"/>
            <a:ext cx="1145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8 шт.</a:t>
            </a:r>
            <a:endParaRPr sz="2400" b="0" i="0" u="none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47" name="Google Shape;147;p69"/>
          <p:cNvSpPr txBox="1"/>
          <p:nvPr/>
        </p:nvSpPr>
        <p:spPr>
          <a:xfrm>
            <a:off x="9125609" y="4202151"/>
            <a:ext cx="1145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8 шт.</a:t>
            </a:r>
            <a:endParaRPr sz="2400" b="0" i="0" u="none" strike="noStrike" cap="none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48" name="Google Shape;148;p69"/>
          <p:cNvSpPr txBox="1"/>
          <p:nvPr/>
        </p:nvSpPr>
        <p:spPr>
          <a:xfrm>
            <a:off x="3999235" y="3395966"/>
            <a:ext cx="1290948" cy="91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ru-RU" sz="1333" b="0" i="0" u="none" strike="noStrike" cap="non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Получение базы знаний по дисциплине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9"/>
          <p:cNvSpPr txBox="1"/>
          <p:nvPr/>
        </p:nvSpPr>
        <p:spPr>
          <a:xfrm>
            <a:off x="6447133" y="3366944"/>
            <a:ext cx="1290948" cy="91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ru-RU" sz="1333" b="0" i="0" u="none" strike="noStrike" cap="non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Задания для закрепления пройденного материала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9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60932" rIns="121897" bIns="60932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55554"/>
            </a:pPr>
            <a:r>
              <a:rPr lang="ru-RU" b="1"/>
              <a:t>Организационные вопросы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4922877" y="2178728"/>
            <a:ext cx="6430924" cy="160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60932" rIns="121897" bIns="60932" anchor="t" anchorCtr="0">
            <a:sp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ru-RU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лекциях будет тестирование без предупреждения и возможности переписать! 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199200" y="73068"/>
            <a:ext cx="11793600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spAutoFit/>
          </a:bodyPr>
          <a:lstStyle/>
          <a:p>
            <a:pPr>
              <a:buClr>
                <a:srgbClr val="000000"/>
              </a:buClr>
              <a:buSzPts val="1125"/>
            </a:pPr>
            <a:r>
              <a:rPr lang="ru-RU" sz="150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РЫНОЧНЫЕ ВЫЗОВЫ: РАЗРАБОТКА БИЗНЕС-РЕШЕНИЙ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</p:spPr>
        <p:txBody>
          <a:bodyPr spcFirstLastPara="1" wrap="square" lIns="121897" tIns="60932" rIns="121897" bIns="60932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fld id="{00000000-1234-1234-1234-123412341234}" type="slidenum">
              <a:rPr lang="ru-RU"/>
              <a:pPr>
                <a:buClr>
                  <a:srgbClr val="000000"/>
                </a:buClr>
                <a:buSzPts val="1200"/>
              </a:pPr>
              <a:t>9</a:t>
            </a:fld>
            <a:endParaRPr/>
          </a:p>
        </p:txBody>
      </p:sp>
      <p:pic>
        <p:nvPicPr>
          <p:cNvPr id="2" name="Изображение 1" descr="attachment (6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99" y="1968921"/>
            <a:ext cx="4032598" cy="403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9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b="1"/>
              <a:t>План лекции</a:t>
            </a:r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209029" cy="47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67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ru-RU" sz="2000" b="1">
                <a:latin typeface="Arial"/>
                <a:ea typeface="Arial"/>
                <a:cs typeface="Arial"/>
                <a:sym typeface="Arial"/>
              </a:rPr>
              <a:t>Рынок как пространство обмена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. Экономическая система и ее виды. Рынок, функции рынка.</a:t>
            </a:r>
            <a:endParaRPr/>
          </a:p>
          <a:p>
            <a:pPr marL="457200" lvl="0" indent="-4667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ru-RU" sz="2000" b="1">
                <a:latin typeface="Arial"/>
                <a:ea typeface="Arial"/>
                <a:cs typeface="Arial"/>
                <a:sym typeface="Arial"/>
              </a:rPr>
              <a:t>Спрос и предложение. 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Равновесная ц</a:t>
            </a:r>
            <a:r>
              <a:rPr lang="ru-RU" sz="2000"/>
              <a:t>ена. Методы прогнозирования спроса. Эластичность спроса. Ценовая дискриминация.</a:t>
            </a:r>
            <a:endParaRPr sz="2000"/>
          </a:p>
          <a:p>
            <a:pPr marL="457200" lvl="0" indent="-4667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ru-RU" sz="2000" b="1">
                <a:latin typeface="Arial"/>
                <a:ea typeface="Arial"/>
                <a:cs typeface="Arial"/>
                <a:sym typeface="Arial"/>
              </a:rPr>
              <a:t>Экономическая природа предприятия и рынка. 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Понятие экономического субъекта и объекта. Инфраструктура рынка. Внутренняя и внешняя среда компании</a:t>
            </a:r>
            <a:r>
              <a:rPr lang="ru-RU" sz="2100">
                <a:latin typeface="Arial"/>
                <a:ea typeface="Arial"/>
                <a:cs typeface="Arial"/>
                <a:sym typeface="Arial"/>
              </a:rPr>
              <a:t>. Основные показатели компании (постоянные и переменные расходы, выручка и виды прибыли).</a:t>
            </a:r>
            <a:endParaRPr/>
          </a:p>
          <a:p>
            <a:pPr marL="457200" lvl="0" indent="-46672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ru-RU" sz="2000" b="1">
                <a:latin typeface="Arial"/>
                <a:ea typeface="Arial"/>
                <a:cs typeface="Arial"/>
                <a:sym typeface="Arial"/>
              </a:rPr>
              <a:t>Рыночная среда и вывод продукта на рынок. 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Типы рынка. Виды конкурентной среды. Структура жизнедеятельности продук</a:t>
            </a:r>
            <a:r>
              <a:rPr lang="ru-RU" sz="2000"/>
              <a:t>та. PEST-анализ.</a:t>
            </a:r>
            <a:endParaRPr sz="2000"/>
          </a:p>
        </p:txBody>
      </p:sp>
      <p:sp>
        <p:nvSpPr>
          <p:cNvPr id="220" name="Google Shape;220;p13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>
            <a:spLocks noGrp="1"/>
          </p:cNvSpPr>
          <p:nvPr>
            <p:ph type="title"/>
          </p:nvPr>
        </p:nvSpPr>
        <p:spPr>
          <a:xfrm>
            <a:off x="838200" y="24810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 sz="4400" b="1">
                <a:latin typeface="Arial"/>
                <a:ea typeface="Arial"/>
                <a:cs typeface="Arial"/>
                <a:sym typeface="Arial"/>
              </a:rPr>
              <a:t>Рынок как пространство обмена</a:t>
            </a:r>
            <a:endParaRPr b="1"/>
          </a:p>
        </p:txBody>
      </p:sp>
      <p:sp>
        <p:nvSpPr>
          <p:cNvPr id="226" name="Google Shape;226;p14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14"/>
          <p:cNvCxnSpPr/>
          <p:nvPr/>
        </p:nvCxnSpPr>
        <p:spPr>
          <a:xfrm>
            <a:off x="914400" y="3806567"/>
            <a:ext cx="7315200" cy="0"/>
          </a:xfrm>
          <a:prstGeom prst="straightConnector1">
            <a:avLst/>
          </a:prstGeom>
          <a:noFill/>
          <a:ln w="28575" cap="flat" cmpd="sng">
            <a:solidFill>
              <a:srgbClr val="9CFB0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28E6E-F610-0DA5-CA18-096FAA59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88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АССОЦИАЦИИ ВОЗНИКАЮТ У ВАС В СВЯЗИ С ПОНЯТИЕМ «РЫНОК»?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E88698-8EA7-16B6-DE58-16D1834B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1241"/>
            <a:ext cx="10515600" cy="5486400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4E7404-2875-8BC2-7264-98F0A7B2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74" y="1508234"/>
            <a:ext cx="2630433" cy="19688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5CE6CB-7616-2683-DBC8-7DDD7E359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063" y="1521740"/>
            <a:ext cx="3466991" cy="19349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EF9BB5-7802-567D-FC31-6C9444AF7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087" y="1532616"/>
            <a:ext cx="2372994" cy="19444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629150-1005-39D2-420F-2571F0CEF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37" y="1544806"/>
            <a:ext cx="2595515" cy="16338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FBE682B-B46F-4120-2C08-EC2C4AD5C3A4}"/>
              </a:ext>
            </a:extLst>
          </p:cNvPr>
          <p:cNvSpPr txBox="1"/>
          <p:nvPr/>
        </p:nvSpPr>
        <p:spPr>
          <a:xfrm>
            <a:off x="7821827" y="5580157"/>
            <a:ext cx="45225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yandex.ru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/maps/org/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ovoshchi_frukty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/174401796046/?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=39.710333%2C47.216392&amp;z=16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https://www.hr-director.ru/article/67788-analiz-rynka-truda-rukovodstvo-dlya-hr-a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https://seminar-kadry.ru/seminar?kind=videoTraining&amp;rubric=&amp;city=?utm_medium=refer&amp;utm_source=www.hr-director.ru&amp;utm_campaign=PW_LastHope&amp;utm_term=PW_LastHope_torg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https://whatiscentralbank.hse.ru/3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isource.com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/news/rynok-it-reshenii-itogi-2025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7D292BB-1661-3B49-EB63-343B753D01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974" y="3606396"/>
            <a:ext cx="4994948" cy="30323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2302BB8-1F97-9AD4-4AE1-AF0BA17C8640}"/>
              </a:ext>
            </a:extLst>
          </p:cNvPr>
          <p:cNvSpPr txBox="1"/>
          <p:nvPr/>
        </p:nvSpPr>
        <p:spPr>
          <a:xfrm>
            <a:off x="5746250" y="3857217"/>
            <a:ext cx="62030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 итогам года динамика ИТ-рынка составит менее 10%. Фокус сместился на сегмент информационной безопасности (ИБ), именно он сегодня обеспечивает общий рост ИТ-рынка.</a:t>
            </a:r>
            <a:b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Как показывает практика, в 2025—2026 году бюджеты на ИБ увеличились — в некоторых случаях даже в 2 раза, а вот на ИТ, наоборот, сократились.</a:t>
            </a:r>
            <a:b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рассматривать ИТ без учёта ИБ, наблюдалось падение более чем на 10%.</a:t>
            </a:r>
            <a:b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909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7332" y="2153099"/>
            <a:ext cx="4847773" cy="2098228"/>
          </a:xfrm>
        </p:spPr>
        <p:txBody>
          <a:bodyPr>
            <a:no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вопрос – ЧТО? 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Определяющая роль уникальности товара и обстоятельств, контекста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ресурсами 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взаимовыгодного (или невыгодного ) обмена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Традиционный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/>
                <a:cs typeface="Times New Roman"/>
              </a:rPr>
              <a:t>Принципиальные отличия традиционного и современного бизнеса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6895" y="3794234"/>
            <a:ext cx="4847773" cy="2554013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вопрос – КАК?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Определяющая роль технологий и человека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уровнем инновационного развития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своевременных бизнес-решений (подбор бизнес-моделей)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(инновационный)</a:t>
            </a:r>
          </a:p>
        </p:txBody>
      </p:sp>
      <p:pic>
        <p:nvPicPr>
          <p:cNvPr id="7" name="Изображение 6" descr="Снимок экрана 2023-09-01 в 17.39.2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078" y="4967488"/>
            <a:ext cx="3545975" cy="1778917"/>
          </a:xfrm>
          <a:prstGeom prst="rect">
            <a:avLst/>
          </a:prstGeom>
        </p:spPr>
      </p:pic>
      <p:pic>
        <p:nvPicPr>
          <p:cNvPr id="8" name="Изображение 7" descr="Снимок экрана 2023-09-01 в 17.39.5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265" y="1070016"/>
            <a:ext cx="2568856" cy="17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6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7079D-979B-C9F0-E759-5A74CE5B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913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ВАЖНО ЗНАТЬ ЗАКОНЫ РЫНКА (ИЛИ НЕ ВАЖНО?)?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3FA060-85C7-2CB7-6236-4522EE4E1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2548" y="1075038"/>
            <a:ext cx="7721252" cy="5659394"/>
          </a:xfrm>
        </p:spPr>
        <p:txBody>
          <a:bodyPr>
            <a:normAutofit fontScale="85000" lnSpcReduction="20000"/>
          </a:bodyPr>
          <a:lstStyle/>
          <a:p>
            <a:pPr marL="114300" indent="0" algn="ctr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Потому что все есть рынок и все мы – часть рынка! </a:t>
            </a:r>
          </a:p>
          <a:p>
            <a:pPr marL="11430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Пример, не выходя из аудитории: </a:t>
            </a:r>
          </a:p>
          <a:p>
            <a:pPr marL="11430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Университет как «компания», «фирма» игрок рынка образовательных услуг, внутри которого за студентов борются образовательный программы!</a:t>
            </a:r>
          </a:p>
          <a:p>
            <a:pPr marL="11430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Его активы – инфраструктура, преподаватели, студенты образовательные программы и т.п. </a:t>
            </a:r>
          </a:p>
          <a:p>
            <a:pPr marL="11430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Его пассивы – бюджетные места, которые выделяются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Минобром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становятся активами и должны быть реализованы в виде высококлассных специалистов (или пассивы сократят/обнулят).</a:t>
            </a:r>
          </a:p>
          <a:p>
            <a:pPr marL="11430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преподаватель – и товар, и купец (который продает свои навыки): участвует в конкурсе на вакансии и «продает» себя вузу. Каждая образовательная программа борется с другими за студентов. </a:t>
            </a:r>
          </a:p>
          <a:p>
            <a:pPr marL="11430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студент – и покупатель, и товар: студент выбирает образовательную программу и траекторию, при этом является «товаром» в качестве потенциального высококлассного специалиста, который наряду с преподавателями используется вузом для коллаборации с другими компаниями. </a:t>
            </a:r>
          </a:p>
          <a:p>
            <a:pPr marL="11430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«Банковская схема»: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государственных приоритетов выдает «кредиты» вузам в виде бюджетных мест, а вузы –  образовательным программам. Цель глобальной и локальной конкуренции – насыщение рынка специалистами (технологический суверенитет)</a:t>
            </a:r>
          </a:p>
          <a:p>
            <a:pPr marL="114300" indent="0" algn="ctr">
              <a:buNone/>
            </a:pPr>
            <a:endParaRPr lang="ru-RU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1D56A1-B8F2-DBF3-7315-8A5A79148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4" y="2330781"/>
            <a:ext cx="3679862" cy="348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5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/>
                <a:cs typeface="Times New Roman"/>
              </a:rPr>
              <a:t>КОНДРАТЬЕВСКИЕ ВОЛНЫ</a:t>
            </a:r>
          </a:p>
        </p:txBody>
      </p:sp>
      <p:pic>
        <p:nvPicPr>
          <p:cNvPr id="4" name="Содержимое 3" descr="Снимок экрана 2021-11-30 в 21.55.47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" b="2718"/>
          <a:stretch>
            <a:fillRect/>
          </a:stretch>
        </p:blipFill>
        <p:spPr>
          <a:xfrm>
            <a:off x="1303013" y="1768231"/>
            <a:ext cx="10120472" cy="4066360"/>
          </a:xfrm>
        </p:spPr>
      </p:pic>
      <p:pic>
        <p:nvPicPr>
          <p:cNvPr id="5" name="Изображение 4" descr="Снимок экрана 2023-06-15 в 1.06.5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314" y="131456"/>
            <a:ext cx="1755111" cy="5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31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/>
          </p:nvPr>
        </p:nvSpPr>
        <p:spPr>
          <a:xfrm>
            <a:off x="444661" y="873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ru-RU" sz="2400" b="1">
                <a:latin typeface="Arial"/>
                <a:ea typeface="Arial"/>
                <a:cs typeface="Arial"/>
                <a:sym typeface="Arial"/>
              </a:rPr>
              <a:t>ЭКОНОМИЧЕСКИЕ ЦИКЛЫ. ВОЛНЫ КОНДРАТЬЕВА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5"/>
          <p:cNvPicPr preferRelativeResize="0"/>
          <p:nvPr/>
        </p:nvPicPr>
        <p:blipFill rotWithShape="1">
          <a:blip r:embed="rId3">
            <a:alphaModFix/>
          </a:blip>
          <a:srcRect l="4285" t="22296" r="3538" b="7388"/>
          <a:stretch/>
        </p:blipFill>
        <p:spPr>
          <a:xfrm>
            <a:off x="1334425" y="1364900"/>
            <a:ext cx="8736074" cy="499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5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/>
                <a:cs typeface="Times New Roman"/>
              </a:rPr>
              <a:t>ТЕХНОЛОГИЧЕСКИЕ УКЛАДЫ</a:t>
            </a:r>
          </a:p>
        </p:txBody>
      </p:sp>
      <p:sp>
        <p:nvSpPr>
          <p:cNvPr id="7" name="Содержимое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Ш</a:t>
            </a:r>
          </a:p>
        </p:txBody>
      </p:sp>
      <p:pic>
        <p:nvPicPr>
          <p:cNvPr id="8" name="Изображение 7" descr="Снимок экрана 2021-11-30 в 21.56.5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00" y="1761565"/>
            <a:ext cx="11172897" cy="3633411"/>
          </a:xfrm>
          <a:prstGeom prst="rect">
            <a:avLst/>
          </a:prstGeom>
        </p:spPr>
      </p:pic>
      <p:pic>
        <p:nvPicPr>
          <p:cNvPr id="6" name="Изображение 5" descr="Снимок экрана 2023-06-15 в 1.06.5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669" y="131456"/>
            <a:ext cx="1755111" cy="5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78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 txBox="1">
            <a:spLocks noGrp="1"/>
          </p:cNvSpPr>
          <p:nvPr>
            <p:ph type="title"/>
          </p:nvPr>
        </p:nvSpPr>
        <p:spPr>
          <a:xfrm>
            <a:off x="461682" y="326397"/>
            <a:ext cx="1041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700" b="1">
                <a:latin typeface="Arial"/>
                <a:ea typeface="Arial"/>
                <a:cs typeface="Arial"/>
                <a:sym typeface="Arial"/>
              </a:rPr>
              <a:t>Уровни экономики</a:t>
            </a:r>
            <a:endParaRPr sz="2700" b="1"/>
          </a:p>
        </p:txBody>
      </p:sp>
      <p:grpSp>
        <p:nvGrpSpPr>
          <p:cNvPr id="240" name="Google Shape;240;p16"/>
          <p:cNvGrpSpPr/>
          <p:nvPr/>
        </p:nvGrpSpPr>
        <p:grpSpPr>
          <a:xfrm>
            <a:off x="297000" y="1652097"/>
            <a:ext cx="11531084" cy="4630926"/>
            <a:chOff x="1737500" y="2616935"/>
            <a:chExt cx="8936248" cy="3666088"/>
          </a:xfrm>
        </p:grpSpPr>
        <p:sp>
          <p:nvSpPr>
            <p:cNvPr id="241" name="Google Shape;241;p16"/>
            <p:cNvSpPr/>
            <p:nvPr/>
          </p:nvSpPr>
          <p:spPr>
            <a:xfrm>
              <a:off x="3686250" y="3832725"/>
              <a:ext cx="5030100" cy="865800"/>
            </a:xfrm>
            <a:prstGeom prst="trapezoid">
              <a:avLst>
                <a:gd name="adj" fmla="val 121221"/>
              </a:avLst>
            </a:prstGeom>
            <a:solidFill>
              <a:srgbClr val="C2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6BAD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16"/>
            <p:cNvGrpSpPr/>
            <p:nvPr/>
          </p:nvGrpSpPr>
          <p:grpSpPr>
            <a:xfrm>
              <a:off x="1737500" y="2616935"/>
              <a:ext cx="8936248" cy="3666088"/>
              <a:chOff x="-15" y="0"/>
              <a:chExt cx="10972800" cy="4526035"/>
            </a:xfrm>
          </p:grpSpPr>
          <p:sp>
            <p:nvSpPr>
              <p:cNvPr id="243" name="Google Shape;243;p16"/>
              <p:cNvSpPr/>
              <p:nvPr/>
            </p:nvSpPr>
            <p:spPr>
              <a:xfrm>
                <a:off x="3657600" y="0"/>
                <a:ext cx="3657600" cy="1508700"/>
              </a:xfrm>
              <a:prstGeom prst="trapezoid">
                <a:avLst>
                  <a:gd name="adj" fmla="val 121221"/>
                </a:avLst>
              </a:prstGeom>
              <a:solidFill>
                <a:srgbClr val="9CFB02">
                  <a:alpha val="37647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6"/>
              <p:cNvSpPr txBox="1"/>
              <p:nvPr/>
            </p:nvSpPr>
            <p:spPr>
              <a:xfrm>
                <a:off x="4007072" y="704536"/>
                <a:ext cx="2958600" cy="70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0300" tIns="20300" rIns="2030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Микроэкономика</a:t>
                </a:r>
                <a:r>
                  <a:rPr lang="ru-RU" sz="16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организация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1342016" y="2549926"/>
                <a:ext cx="8289300" cy="877800"/>
              </a:xfrm>
              <a:prstGeom prst="trapezoid">
                <a:avLst>
                  <a:gd name="adj" fmla="val 121221"/>
                </a:avLst>
              </a:prstGeom>
              <a:solidFill>
                <a:srgbClr val="9CFB0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6"/>
              <p:cNvSpPr txBox="1"/>
              <p:nvPr/>
            </p:nvSpPr>
            <p:spPr>
              <a:xfrm>
                <a:off x="3108884" y="1710174"/>
                <a:ext cx="4755000" cy="59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0300" tIns="20300" rIns="2030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Мезоэкономика</a:t>
                </a:r>
                <a:r>
                  <a:rPr lang="ru-RU" sz="16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регион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>
                <a:off x="-15" y="3427735"/>
                <a:ext cx="10972800" cy="1098300"/>
              </a:xfrm>
              <a:prstGeom prst="trapezoid">
                <a:avLst>
                  <a:gd name="adj" fmla="val 121221"/>
                </a:avLst>
              </a:prstGeom>
              <a:solidFill>
                <a:srgbClr val="6BAD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6"/>
              <p:cNvSpPr txBox="1"/>
              <p:nvPr/>
            </p:nvSpPr>
            <p:spPr>
              <a:xfrm>
                <a:off x="1920233" y="3537828"/>
                <a:ext cx="7132200" cy="98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0300" tIns="20300" rIns="2030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Мировая экономика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9" name="Google Shape;249;p16"/>
            <p:cNvSpPr txBox="1"/>
            <p:nvPr/>
          </p:nvSpPr>
          <p:spPr>
            <a:xfrm>
              <a:off x="4265088" y="4823451"/>
              <a:ext cx="38724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00" tIns="20300" rIns="20300" bIns="20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lang="ru-RU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Макроэкономика</a:t>
              </a:r>
              <a:r>
                <a:rPr lang="ru-RU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страна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16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 txBox="1">
            <a:spLocks noGrp="1"/>
          </p:cNvSpPr>
          <p:nvPr>
            <p:ph type="title"/>
          </p:nvPr>
        </p:nvSpPr>
        <p:spPr>
          <a:xfrm>
            <a:off x="461682" y="326397"/>
            <a:ext cx="1041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700" b="1">
                <a:latin typeface="Arial"/>
                <a:ea typeface="Arial"/>
                <a:cs typeface="Arial"/>
                <a:sym typeface="Arial"/>
              </a:rPr>
              <a:t>Уровни экономики</a:t>
            </a:r>
            <a:endParaRPr sz="2700" b="1"/>
          </a:p>
        </p:txBody>
      </p:sp>
      <p:grpSp>
        <p:nvGrpSpPr>
          <p:cNvPr id="256" name="Google Shape;256;p17"/>
          <p:cNvGrpSpPr/>
          <p:nvPr/>
        </p:nvGrpSpPr>
        <p:grpSpPr>
          <a:xfrm>
            <a:off x="989967" y="1652097"/>
            <a:ext cx="10212066" cy="4630927"/>
            <a:chOff x="1737500" y="2616935"/>
            <a:chExt cx="8936248" cy="3666089"/>
          </a:xfrm>
        </p:grpSpPr>
        <p:sp>
          <p:nvSpPr>
            <p:cNvPr id="257" name="Google Shape;257;p17"/>
            <p:cNvSpPr/>
            <p:nvPr/>
          </p:nvSpPr>
          <p:spPr>
            <a:xfrm rot="10800000">
              <a:off x="3694898" y="4201434"/>
              <a:ext cx="5030100" cy="865800"/>
            </a:xfrm>
            <a:prstGeom prst="trapezoid">
              <a:avLst>
                <a:gd name="adj" fmla="val 121221"/>
              </a:avLst>
            </a:prstGeom>
            <a:solidFill>
              <a:srgbClr val="C2F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6BAD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17"/>
            <p:cNvGrpSpPr/>
            <p:nvPr/>
          </p:nvGrpSpPr>
          <p:grpSpPr>
            <a:xfrm rot="10800000">
              <a:off x="1737500" y="2616935"/>
              <a:ext cx="8936248" cy="3666089"/>
              <a:chOff x="-15" y="0"/>
              <a:chExt cx="10972800" cy="4526036"/>
            </a:xfrm>
          </p:grpSpPr>
          <p:sp>
            <p:nvSpPr>
              <p:cNvPr id="259" name="Google Shape;259;p17"/>
              <p:cNvSpPr/>
              <p:nvPr/>
            </p:nvSpPr>
            <p:spPr>
              <a:xfrm>
                <a:off x="3657600" y="0"/>
                <a:ext cx="3657600" cy="1508700"/>
              </a:xfrm>
              <a:prstGeom prst="trapezoid">
                <a:avLst>
                  <a:gd name="adj" fmla="val 121221"/>
                </a:avLst>
              </a:prstGeom>
              <a:solidFill>
                <a:srgbClr val="9CFB02">
                  <a:alpha val="37647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7"/>
              <p:cNvSpPr txBox="1"/>
              <p:nvPr/>
            </p:nvSpPr>
            <p:spPr>
              <a:xfrm rot="10800000">
                <a:off x="4007072" y="704536"/>
                <a:ext cx="2958600" cy="70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0300" tIns="20300" rIns="2030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Микроэкономика</a:t>
                </a:r>
                <a:r>
                  <a:rPr lang="ru-RU" sz="16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организация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17"/>
              <p:cNvSpPr/>
              <p:nvPr/>
            </p:nvSpPr>
            <p:spPr>
              <a:xfrm>
                <a:off x="1342016" y="2549926"/>
                <a:ext cx="8289300" cy="877800"/>
              </a:xfrm>
              <a:prstGeom prst="trapezoid">
                <a:avLst>
                  <a:gd name="adj" fmla="val 121221"/>
                </a:avLst>
              </a:prstGeom>
              <a:solidFill>
                <a:srgbClr val="9CFB0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7"/>
              <p:cNvSpPr txBox="1"/>
              <p:nvPr/>
            </p:nvSpPr>
            <p:spPr>
              <a:xfrm rot="10800000">
                <a:off x="3108884" y="1710174"/>
                <a:ext cx="4755000" cy="59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0300" tIns="20300" rIns="2030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Мезоэкономика</a:t>
                </a:r>
                <a:r>
                  <a:rPr lang="ru-RU" sz="16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регион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-15" y="3427735"/>
                <a:ext cx="10972800" cy="1098300"/>
              </a:xfrm>
              <a:prstGeom prst="trapezoid">
                <a:avLst>
                  <a:gd name="adj" fmla="val 121221"/>
                </a:avLst>
              </a:prstGeom>
              <a:solidFill>
                <a:srgbClr val="6BAD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7"/>
              <p:cNvSpPr txBox="1"/>
              <p:nvPr/>
            </p:nvSpPr>
            <p:spPr>
              <a:xfrm rot="10800000">
                <a:off x="1920233" y="3427736"/>
                <a:ext cx="7132200" cy="109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0300" tIns="20300" rIns="2030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Times New Roman"/>
                  <a:buNone/>
                </a:pPr>
                <a:r>
                  <a:rPr lang="ru-RU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Мировая экономика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5" name="Google Shape;265;p17"/>
            <p:cNvSpPr txBox="1"/>
            <p:nvPr/>
          </p:nvSpPr>
          <p:spPr>
            <a:xfrm>
              <a:off x="4273761" y="3597408"/>
              <a:ext cx="38724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00" tIns="20300" rIns="20300" bIns="20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lang="ru-RU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Макроэкономика</a:t>
              </a:r>
              <a:r>
                <a:rPr lang="ru-RU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imes New Roman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страна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7"/>
            <p:cNvSpPr txBox="1"/>
            <p:nvPr/>
          </p:nvSpPr>
          <p:spPr>
            <a:xfrm>
              <a:off x="2673900" y="5162388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организация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7"/>
            <p:cNvSpPr txBox="1"/>
            <p:nvPr/>
          </p:nvSpPr>
          <p:spPr>
            <a:xfrm>
              <a:off x="3470575" y="56886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организация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7"/>
            <p:cNvSpPr txBox="1"/>
            <p:nvPr/>
          </p:nvSpPr>
          <p:spPr>
            <a:xfrm>
              <a:off x="2300150" y="5498325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организация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7"/>
            <p:cNvSpPr txBox="1"/>
            <p:nvPr/>
          </p:nvSpPr>
          <p:spPr>
            <a:xfrm>
              <a:off x="5590125" y="56886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организация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7"/>
            <p:cNvSpPr txBox="1"/>
            <p:nvPr/>
          </p:nvSpPr>
          <p:spPr>
            <a:xfrm>
              <a:off x="7165175" y="52575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организация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7"/>
            <p:cNvSpPr txBox="1"/>
            <p:nvPr/>
          </p:nvSpPr>
          <p:spPr>
            <a:xfrm>
              <a:off x="7552100" y="56886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организация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p17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/>
        </p:nvSpPr>
        <p:spPr>
          <a:xfrm>
            <a:off x="5211001" y="1187250"/>
            <a:ext cx="5779500" cy="44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</a:pPr>
            <a:r>
              <a:rPr lang="ru-RU" sz="23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Экономика –  это живой организм</a:t>
            </a:r>
            <a:r>
              <a:rPr lang="ru-RU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как человеческое тело, а экономические процессы — </a:t>
            </a:r>
            <a:r>
              <a:rPr lang="ru-RU" sz="23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естественные процессы</a:t>
            </a:r>
            <a:r>
              <a:rPr lang="ru-RU" sz="23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имеющие внутренние закономерности.</a:t>
            </a:r>
            <a:endParaRPr sz="23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</a:pPr>
            <a:endParaRPr sz="23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Франсуа Кенэ, французский экономист,  “Экономическая таблица”.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18"/>
          <p:cNvPicPr preferRelativeResize="0"/>
          <p:nvPr/>
        </p:nvPicPr>
        <p:blipFill rotWithShape="1">
          <a:blip r:embed="rId3">
            <a:alphaModFix/>
          </a:blip>
          <a:srcRect l="2496" t="1182" r="1855" b="3443"/>
          <a:stretch/>
        </p:blipFill>
        <p:spPr>
          <a:xfrm>
            <a:off x="834400" y="1187250"/>
            <a:ext cx="3561651" cy="448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9" title="модель кругооборота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6220" y="1229862"/>
            <a:ext cx="7913936" cy="43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 txBox="1"/>
          <p:nvPr/>
        </p:nvSpPr>
        <p:spPr>
          <a:xfrm>
            <a:off x="5476915" y="5571851"/>
            <a:ext cx="5496300" cy="82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кругооборота в экономике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*Ист: Оливер Бланшар. Макроэкономика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700" y="1412025"/>
            <a:ext cx="3675114" cy="43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>
            <a:spLocks noGrp="1"/>
          </p:cNvSpPr>
          <p:nvPr>
            <p:ph type="title"/>
          </p:nvPr>
        </p:nvSpPr>
        <p:spPr>
          <a:xfrm>
            <a:off x="461682" y="326397"/>
            <a:ext cx="1041143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700" b="1">
                <a:latin typeface="Arial"/>
                <a:ea typeface="Arial"/>
                <a:cs typeface="Arial"/>
                <a:sym typeface="Arial"/>
              </a:rPr>
              <a:t>Типы экономических агентов</a:t>
            </a:r>
            <a:endParaRPr sz="27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>
            <a:spLocks noGrp="1"/>
          </p:cNvSpPr>
          <p:nvPr>
            <p:ph type="body" idx="1"/>
          </p:nvPr>
        </p:nvSpPr>
        <p:spPr>
          <a:xfrm>
            <a:off x="507575" y="1721275"/>
            <a:ext cx="35268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i="1"/>
              <a:t>агенты</a:t>
            </a:r>
            <a:endParaRPr sz="1800" i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Домохозяйства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Фирмы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Государство</a:t>
            </a:r>
            <a:endParaRPr sz="1800" b="1"/>
          </a:p>
        </p:txBody>
      </p:sp>
      <p:sp>
        <p:nvSpPr>
          <p:cNvPr id="294" name="Google Shape;294;p20"/>
          <p:cNvSpPr txBox="1">
            <a:spLocks noGrp="1"/>
          </p:cNvSpPr>
          <p:nvPr>
            <p:ph type="title"/>
          </p:nvPr>
        </p:nvSpPr>
        <p:spPr>
          <a:xfrm>
            <a:off x="461682" y="326397"/>
            <a:ext cx="1041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700" b="1">
                <a:latin typeface="Arial"/>
                <a:ea typeface="Arial"/>
                <a:cs typeface="Arial"/>
                <a:sym typeface="Arial"/>
              </a:rPr>
              <a:t>Распределение денежных потоков</a:t>
            </a:r>
            <a:endParaRPr sz="2700" b="1"/>
          </a:p>
        </p:txBody>
      </p:sp>
      <p:sp>
        <p:nvSpPr>
          <p:cNvPr id="295" name="Google Shape;295;p2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0"/>
          <p:cNvSpPr txBox="1">
            <a:spLocks noGrp="1"/>
          </p:cNvSpPr>
          <p:nvPr>
            <p:ph type="body" idx="1"/>
          </p:nvPr>
        </p:nvSpPr>
        <p:spPr>
          <a:xfrm>
            <a:off x="4432300" y="1721275"/>
            <a:ext cx="35268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i="1"/>
              <a:t>получаемые ДП</a:t>
            </a:r>
            <a:endParaRPr sz="1800" i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Заработная плата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Плата за ресурсы (процент, рента)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Прибыль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Плата за ресурсы (процент, рента)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Налоги</a:t>
            </a:r>
            <a:endParaRPr sz="1800" b="1"/>
          </a:p>
        </p:txBody>
      </p:sp>
      <p:sp>
        <p:nvSpPr>
          <p:cNvPr id="298" name="Google Shape;298;p20"/>
          <p:cNvSpPr txBox="1">
            <a:spLocks noGrp="1"/>
          </p:cNvSpPr>
          <p:nvPr>
            <p:ph type="body" idx="1"/>
          </p:nvPr>
        </p:nvSpPr>
        <p:spPr>
          <a:xfrm>
            <a:off x="8250025" y="1721275"/>
            <a:ext cx="35268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i="1"/>
              <a:t>отдаваемые ДП</a:t>
            </a:r>
            <a:endParaRPr sz="1800" i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Покупка товаров и услуг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Налоги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Налоги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Покупка ресурсов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1800" b="1"/>
              <a:t>Госзакупки</a:t>
            </a:r>
            <a:endParaRPr sz="1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 txBox="1">
            <a:spLocks noGrp="1"/>
          </p:cNvSpPr>
          <p:nvPr>
            <p:ph type="body" idx="1"/>
          </p:nvPr>
        </p:nvSpPr>
        <p:spPr>
          <a:xfrm>
            <a:off x="484239" y="564515"/>
            <a:ext cx="10515600" cy="67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</a:pPr>
            <a:r>
              <a:rPr lang="ru-RU" sz="350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Экономическая система </a:t>
            </a:r>
            <a:endParaRPr sz="35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648363" y="3868701"/>
            <a:ext cx="10515599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Типы экономических систем</a:t>
            </a:r>
            <a:r>
              <a:rPr lang="ru-RU" sz="22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ru-RU" sz="22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Традиционная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</a:t>
            </a:r>
            <a:r>
              <a:rPr lang="ru-RU" sz="22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омандная (плановая)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ru-RU" sz="22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Рыночная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</a:t>
            </a:r>
            <a:r>
              <a:rPr lang="ru-RU" sz="22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мешанная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484239" y="1397626"/>
            <a:ext cx="10515600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это способ организации хозяйственной жизни общества, представляющий собой установленную и действующую совокупность принципов, правил, законов, определяющих форму и содержание основных экономических отношений, которые возникают в процессе производства, обмена и потребления экономического продукта.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>
            <a:spLocks noGrp="1"/>
          </p:cNvSpPr>
          <p:nvPr>
            <p:ph type="body" idx="1"/>
          </p:nvPr>
        </p:nvSpPr>
        <p:spPr>
          <a:xfrm>
            <a:off x="721006" y="478646"/>
            <a:ext cx="4857749" cy="117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ru-RU" sz="2000" b="1" i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Традиционная экономика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ru-RU" sz="20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lang="ru-RU" sz="16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ru-RU" sz="1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способ организации экономической жизни, базирующийся на отсталой технологии, широком распространении ручного труда, многоукладности экономики.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6402386" y="478646"/>
            <a:ext cx="4857750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Командная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(плановая, командно-административная, директивная) экономика</a:t>
            </a:r>
            <a:r>
              <a:rPr lang="ru-RU" sz="160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способ организации экономической жизни, при котором капитал и земля, практически все экономические ресурсы находятся в государственной собственности.</a:t>
            </a:r>
            <a:endParaRPr/>
          </a:p>
        </p:txBody>
      </p:sp>
      <p:pic>
        <p:nvPicPr>
          <p:cNvPr id="315" name="Google Shape;315;p22" descr="Традиционная экономика картинки - 72 фото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5792" y="2442632"/>
            <a:ext cx="3646311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/>
        </p:nvSpPr>
        <p:spPr>
          <a:xfrm>
            <a:off x="9319583" y="3065150"/>
            <a:ext cx="2514215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Индия</a:t>
            </a:r>
            <a:r>
              <a:rPr lang="ru-RU" sz="1400" b="1" i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lang="ru-RU" sz="1400" b="1" i="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Китай</a:t>
            </a:r>
            <a:r>
              <a:rPr lang="ru-RU" sz="1400" b="1" i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lang="ru-RU" sz="1400" b="1" i="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Вьетнам</a:t>
            </a:r>
            <a:r>
              <a:rPr lang="ru-RU" sz="1400" b="0" i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используют пятилетние планы для индикативного планирования, где государство устанавливает целевые показатели, а не жестко регламентирует все решения. 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641939" y="5066823"/>
            <a:ext cx="501588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Сохраняются элементы традиционной эк.: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Бурунди, Афганистан, Бангладеш, Непал, а также некоторые общины и племена в Африке (например, масаи), Азии (некоторые регионы Индии, Южной Америки), коренных народах Северной Америки (инуиты). 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6169344" y="3002714"/>
            <a:ext cx="2548467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Северная Корея</a:t>
            </a:r>
            <a:r>
              <a:rPr lang="ru-RU" sz="1400" b="0" i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– единственная страна, где сохранилась почти чистая командная экономика с полным государственным контролем над всеми процессами, что приводит к дефициту товаров. 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7920929" y="5181124"/>
            <a:ext cx="230016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Куба</a:t>
            </a:r>
            <a:r>
              <a:rPr lang="ru-RU" sz="1400" b="0" i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страна предприняла реформы, но элементы централизованного планирования все еще используются. 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/>
          <p:nvPr/>
        </p:nvSpPr>
        <p:spPr>
          <a:xfrm>
            <a:off x="210779" y="2268223"/>
            <a:ext cx="588522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Рыночная экономика</a:t>
            </a:r>
            <a:r>
              <a:rPr lang="ru-RU" sz="20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ru-RU" sz="1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способ организации экономической жизни, при котором капитал и земля находятся в частной собственности отдельных лиц.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6096000" y="2067287"/>
            <a:ext cx="569595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Смешанная экономика</a:t>
            </a:r>
            <a:r>
              <a:rPr lang="ru-RU" sz="20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ru-RU" sz="16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экономическая система, где и государство, и частный сектор играют важную роль в производстве, распределении, обмене и потреблении всех ресурсов и материальных благ в стране.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6793442" y="4325035"/>
            <a:ext cx="430106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Китай, Россия, Германия, Франция, Япония и страны Северной Европы (например, Швеция, Норвегия, Дания)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1097492" y="4186535"/>
            <a:ext cx="452340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США, Японию, Германию, Швейцарию, Великобританию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и другие промышленно развитые страны, такие как </a:t>
            </a: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Канада, Франция, Австралия, Дания и Швеция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"/>
          <p:cNvSpPr txBox="1"/>
          <p:nvPr/>
        </p:nvSpPr>
        <p:spPr>
          <a:xfrm>
            <a:off x="693891" y="2265958"/>
            <a:ext cx="1080421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Рынок </a:t>
            </a:r>
            <a:r>
              <a:rPr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это система взаимодействия, обеспечивающая обмен экономическими благами и услугами покупателей и продавцов.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3873798" y="4978400"/>
            <a:ext cx="4884672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Пространство обмена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>
            <a:spLocks noGrp="1"/>
          </p:cNvSpPr>
          <p:nvPr>
            <p:ph type="title"/>
          </p:nvPr>
        </p:nvSpPr>
        <p:spPr>
          <a:xfrm>
            <a:off x="398600" y="1721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Функции рынка</a:t>
            </a:r>
            <a:endParaRPr/>
          </a:p>
        </p:txBody>
      </p:sp>
      <p:grpSp>
        <p:nvGrpSpPr>
          <p:cNvPr id="345" name="Google Shape;345;p25"/>
          <p:cNvGrpSpPr/>
          <p:nvPr/>
        </p:nvGrpSpPr>
        <p:grpSpPr>
          <a:xfrm>
            <a:off x="1689538" y="1497724"/>
            <a:ext cx="8652641" cy="4887312"/>
            <a:chOff x="1689538" y="1497724"/>
            <a:chExt cx="8652641" cy="4887312"/>
          </a:xfrm>
        </p:grpSpPr>
        <p:sp>
          <p:nvSpPr>
            <p:cNvPr id="346" name="Google Shape;346;p25"/>
            <p:cNvSpPr/>
            <p:nvPr/>
          </p:nvSpPr>
          <p:spPr>
            <a:xfrm>
              <a:off x="1689538" y="1497725"/>
              <a:ext cx="3909848" cy="1387365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Регулирование общественного производства</a:t>
              </a:r>
              <a:endParaRPr/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1689538" y="3247698"/>
              <a:ext cx="3909848" cy="1387365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Определение затрат общества</a:t>
              </a:r>
              <a:endParaRPr/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6432331" y="1497724"/>
              <a:ext cx="3909848" cy="1387365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Связь производителей и потребителей</a:t>
              </a:r>
              <a:endParaRPr/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6432331" y="3247698"/>
              <a:ext cx="3909848" cy="1387365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Установление цен</a:t>
              </a:r>
              <a:endParaRPr/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4141076" y="4997671"/>
              <a:ext cx="3909848" cy="1387365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Дифференциация производителей</a:t>
              </a:r>
              <a:endParaRPr/>
            </a:p>
          </p:txBody>
        </p:sp>
      </p:grpSp>
      <p:sp>
        <p:nvSpPr>
          <p:cNvPr id="351" name="Google Shape;351;p25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"/>
          <p:cNvSpPr txBox="1">
            <a:spLocks noGrp="1"/>
          </p:cNvSpPr>
          <p:nvPr>
            <p:ph type="title"/>
          </p:nvPr>
        </p:nvSpPr>
        <p:spPr>
          <a:xfrm>
            <a:off x="838200" y="24810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 sz="4400" b="1">
                <a:latin typeface="Arial"/>
                <a:ea typeface="Arial"/>
                <a:cs typeface="Arial"/>
                <a:sym typeface="Arial"/>
              </a:rPr>
              <a:t>Спрос и предложение</a:t>
            </a:r>
            <a:endParaRPr b="1"/>
          </a:p>
        </p:txBody>
      </p:sp>
      <p:sp>
        <p:nvSpPr>
          <p:cNvPr id="357" name="Google Shape;357;p26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26"/>
          <p:cNvCxnSpPr/>
          <p:nvPr/>
        </p:nvCxnSpPr>
        <p:spPr>
          <a:xfrm>
            <a:off x="914400" y="3806567"/>
            <a:ext cx="7315200" cy="0"/>
          </a:xfrm>
          <a:prstGeom prst="straightConnector1">
            <a:avLst/>
          </a:prstGeom>
          <a:noFill/>
          <a:ln w="28575" cap="flat" cmpd="sng">
            <a:solidFill>
              <a:srgbClr val="9CFB0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8"/>
          <p:cNvSpPr txBox="1">
            <a:spLocks noGrp="1"/>
          </p:cNvSpPr>
          <p:nvPr>
            <p:ph type="title"/>
          </p:nvPr>
        </p:nvSpPr>
        <p:spPr>
          <a:xfrm>
            <a:off x="457200" y="316919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Спрос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457200" y="1197952"/>
            <a:ext cx="11182350" cy="167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это количество товаров и услуг, которое покупатели готовы приобретать по определенной цене (в данном месте, в данное время, при прочих равных условиях) 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7276136" y="2649297"/>
            <a:ext cx="4363414" cy="3001334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Функция спроса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ru-RU" sz="16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u-RU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b – aP</a:t>
            </a: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ru-RU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где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– точка пересечения с осью абсцисс (OX),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– тангенс угла наклона кривой,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ru-RU" sz="16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величина спроса (demand),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 - цена (price)</a:t>
            </a:r>
            <a:endParaRPr/>
          </a:p>
        </p:txBody>
      </p:sp>
      <p:grpSp>
        <p:nvGrpSpPr>
          <p:cNvPr id="387" name="Google Shape;387;p28"/>
          <p:cNvGrpSpPr/>
          <p:nvPr/>
        </p:nvGrpSpPr>
        <p:grpSpPr>
          <a:xfrm>
            <a:off x="3928624" y="2624577"/>
            <a:ext cx="3236163" cy="3649628"/>
            <a:chOff x="4008214" y="2427890"/>
            <a:chExt cx="3236163" cy="3649628"/>
          </a:xfrm>
        </p:grpSpPr>
        <p:sp>
          <p:nvSpPr>
            <p:cNvPr id="388" name="Google Shape;388;p28"/>
            <p:cNvSpPr txBox="1"/>
            <p:nvPr/>
          </p:nvSpPr>
          <p:spPr>
            <a:xfrm>
              <a:off x="4651590" y="5708186"/>
              <a:ext cx="18053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Кривая спроса</a:t>
              </a:r>
              <a:endParaRPr/>
            </a:p>
          </p:txBody>
        </p:sp>
        <p:cxnSp>
          <p:nvCxnSpPr>
            <p:cNvPr id="389" name="Google Shape;389;p28"/>
            <p:cNvCxnSpPr/>
            <p:nvPr/>
          </p:nvCxnSpPr>
          <p:spPr>
            <a:xfrm rot="10800000">
              <a:off x="4572000" y="2503419"/>
              <a:ext cx="0" cy="2746498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90" name="Google Shape;390;p28"/>
            <p:cNvCxnSpPr/>
            <p:nvPr/>
          </p:nvCxnSpPr>
          <p:spPr>
            <a:xfrm>
              <a:off x="4582510" y="5249917"/>
              <a:ext cx="2543504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91" name="Google Shape;391;p28"/>
            <p:cNvCxnSpPr/>
            <p:nvPr/>
          </p:nvCxnSpPr>
          <p:spPr>
            <a:xfrm>
              <a:off x="4831304" y="3133987"/>
              <a:ext cx="1842991" cy="1817835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392" name="Google Shape;392;p28"/>
            <p:cNvSpPr txBox="1"/>
            <p:nvPr/>
          </p:nvSpPr>
          <p:spPr>
            <a:xfrm>
              <a:off x="4015744" y="3133987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/>
            </a:p>
          </p:txBody>
        </p:sp>
        <p:sp>
          <p:nvSpPr>
            <p:cNvPr id="393" name="Google Shape;393;p28"/>
            <p:cNvSpPr txBox="1"/>
            <p:nvPr/>
          </p:nvSpPr>
          <p:spPr>
            <a:xfrm>
              <a:off x="4011223" y="3467568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/>
            </a:p>
          </p:txBody>
        </p:sp>
        <p:sp>
          <p:nvSpPr>
            <p:cNvPr id="394" name="Google Shape;394;p28"/>
            <p:cNvSpPr txBox="1"/>
            <p:nvPr/>
          </p:nvSpPr>
          <p:spPr>
            <a:xfrm>
              <a:off x="4011223" y="3826953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300</a:t>
              </a:r>
              <a:endParaRPr/>
            </a:p>
          </p:txBody>
        </p:sp>
        <p:sp>
          <p:nvSpPr>
            <p:cNvPr id="395" name="Google Shape;395;p28"/>
            <p:cNvSpPr txBox="1"/>
            <p:nvPr/>
          </p:nvSpPr>
          <p:spPr>
            <a:xfrm>
              <a:off x="4008214" y="4185248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/>
            </a:p>
          </p:txBody>
        </p:sp>
        <p:sp>
          <p:nvSpPr>
            <p:cNvPr id="396" name="Google Shape;396;p28"/>
            <p:cNvSpPr txBox="1"/>
            <p:nvPr/>
          </p:nvSpPr>
          <p:spPr>
            <a:xfrm>
              <a:off x="4008214" y="4543543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/>
            </a:p>
          </p:txBody>
        </p:sp>
        <p:sp>
          <p:nvSpPr>
            <p:cNvPr id="397" name="Google Shape;397;p28"/>
            <p:cNvSpPr txBox="1"/>
            <p:nvPr/>
          </p:nvSpPr>
          <p:spPr>
            <a:xfrm>
              <a:off x="4594701" y="5325912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/>
            </a:p>
          </p:txBody>
        </p:sp>
        <p:sp>
          <p:nvSpPr>
            <p:cNvPr id="398" name="Google Shape;398;p28"/>
            <p:cNvSpPr txBox="1"/>
            <p:nvPr/>
          </p:nvSpPr>
          <p:spPr>
            <a:xfrm>
              <a:off x="4971727" y="5323099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/>
            </a:p>
          </p:txBody>
        </p:sp>
        <p:sp>
          <p:nvSpPr>
            <p:cNvPr id="399" name="Google Shape;399;p28"/>
            <p:cNvSpPr txBox="1"/>
            <p:nvPr/>
          </p:nvSpPr>
          <p:spPr>
            <a:xfrm>
              <a:off x="5324569" y="5318033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600</a:t>
              </a:r>
              <a:endParaRPr/>
            </a:p>
          </p:txBody>
        </p:sp>
        <p:sp>
          <p:nvSpPr>
            <p:cNvPr id="400" name="Google Shape;400;p28"/>
            <p:cNvSpPr txBox="1"/>
            <p:nvPr/>
          </p:nvSpPr>
          <p:spPr>
            <a:xfrm>
              <a:off x="5727261" y="5318033"/>
              <a:ext cx="4732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800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8"/>
            <p:cNvSpPr txBox="1"/>
            <p:nvPr/>
          </p:nvSpPr>
          <p:spPr>
            <a:xfrm>
              <a:off x="6080103" y="5309814"/>
              <a:ext cx="6123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8"/>
            <p:cNvSpPr txBox="1"/>
            <p:nvPr/>
          </p:nvSpPr>
          <p:spPr>
            <a:xfrm>
              <a:off x="5046117" y="2797222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8"/>
            <p:cNvSpPr txBox="1"/>
            <p:nvPr/>
          </p:nvSpPr>
          <p:spPr>
            <a:xfrm>
              <a:off x="4603171" y="2427890"/>
              <a:ext cx="317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8"/>
            <p:cNvSpPr txBox="1"/>
            <p:nvPr/>
          </p:nvSpPr>
          <p:spPr>
            <a:xfrm>
              <a:off x="6761553" y="5261667"/>
              <a:ext cx="4828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Qd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05" name="Google Shape;405;p28"/>
          <p:cNvGraphicFramePr/>
          <p:nvPr/>
        </p:nvGraphicFramePr>
        <p:xfrm>
          <a:off x="390617" y="2807604"/>
          <a:ext cx="3409050" cy="2901275"/>
        </p:xfrm>
        <a:graphic>
          <a:graphicData uri="http://schemas.openxmlformats.org/drawingml/2006/table">
            <a:tbl>
              <a:tblPr firstRow="1" bandRow="1">
                <a:noFill/>
                <a:tableStyleId>{70B68FA5-C104-46DC-AD42-BCEE44FBD859}</a:tableStyleId>
              </a:tblPr>
              <a:tblGrid>
                <a:gridCol w="170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solidFill>
                            <a:srgbClr val="000000"/>
                          </a:solidFill>
                        </a:rPr>
                        <a:t>Цена учебника, P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solidFill>
                            <a:srgbClr val="000000"/>
                          </a:solidFill>
                        </a:rPr>
                        <a:t>(руб за шт)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solidFill>
                            <a:srgbClr val="000000"/>
                          </a:solidFill>
                        </a:rPr>
                        <a:t>Сколько будут готовы купить при этой цене, Qd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solidFill>
                            <a:srgbClr val="000000"/>
                          </a:solidFill>
                        </a:rPr>
                        <a:t> (шт. в мес)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solidFill>
                            <a:srgbClr val="000000"/>
                          </a:solidFill>
                        </a:rPr>
                        <a:t>500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400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400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300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600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800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100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1000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6" name="Google Shape;406;p2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457200" y="2029391"/>
            <a:ext cx="56557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повышении спроса, что происходит с ценой?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b="1"/>
              <a:t>Факторы меняющие спрос</a:t>
            </a:r>
            <a:endParaRPr/>
          </a:p>
        </p:txBody>
      </p:sp>
      <p:sp>
        <p:nvSpPr>
          <p:cNvPr id="414" name="Google Shape;41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892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u-RU" sz="2800" b="1"/>
              <a:t>Ценовой фактор </a:t>
            </a:r>
            <a:r>
              <a:rPr lang="ru-RU" sz="2800"/>
              <a:t>(процентная ставка, доход, импорт закупок) – это изменение величины спроса, что вед</a:t>
            </a:r>
            <a:r>
              <a:rPr lang="ru-RU"/>
              <a:t>е</a:t>
            </a:r>
            <a:r>
              <a:rPr lang="ru-RU" sz="2800"/>
              <a:t>т к перемещению точек по кривой.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u-RU" sz="2800" b="1"/>
              <a:t>Изменение цены на ресурс </a:t>
            </a:r>
            <a:r>
              <a:rPr lang="ru-RU" sz="2800"/>
              <a:t>при прочих неизменных условиях приводит к изменению объема спроса. При увеличении цены – объем спроса уменьшается.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ru-RU" sz="2800" b="1"/>
              <a:t>Неценовые факторы </a:t>
            </a:r>
            <a:r>
              <a:rPr lang="ru-RU" sz="2800"/>
              <a:t>(потребительские расходы, инвестиционные расходы, государственные расходы, расходы на чистый экспорт, национальный доход других стран, валютные курсы)  – это изменение самого спроса.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447175" y="506550"/>
            <a:ext cx="11904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sz="4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Факторы, определяющие форму кривой </a:t>
            </a:r>
            <a:endParaRPr sz="4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3247400" y="1709434"/>
            <a:ext cx="6096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"Зачем мне дорогой кофе, если есть дешевый чай?"</a:t>
            </a:r>
            <a:endParaRPr/>
          </a:p>
        </p:txBody>
      </p:sp>
      <p:grpSp>
        <p:nvGrpSpPr>
          <p:cNvPr id="423" name="Google Shape;423;p30"/>
          <p:cNvGrpSpPr/>
          <p:nvPr/>
        </p:nvGrpSpPr>
        <p:grpSpPr>
          <a:xfrm>
            <a:off x="2202148" y="3719903"/>
            <a:ext cx="7787704" cy="2020741"/>
            <a:chOff x="1214056" y="3422823"/>
            <a:chExt cx="7787704" cy="2020741"/>
          </a:xfrm>
        </p:grpSpPr>
        <p:sp>
          <p:nvSpPr>
            <p:cNvPr id="424" name="Google Shape;424;p30"/>
            <p:cNvSpPr txBox="1"/>
            <p:nvPr/>
          </p:nvSpPr>
          <p:spPr>
            <a:xfrm>
              <a:off x="1214056" y="3422823"/>
              <a:ext cx="3101372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кофе за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200 рублей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0"/>
            <p:cNvSpPr txBox="1"/>
            <p:nvPr/>
          </p:nvSpPr>
          <p:spPr>
            <a:xfrm>
              <a:off x="5900388" y="3425019"/>
              <a:ext cx="3101372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кофе за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400 рублей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0"/>
            <p:cNvSpPr txBox="1"/>
            <p:nvPr/>
          </p:nvSpPr>
          <p:spPr>
            <a:xfrm>
              <a:off x="1214056" y="4579594"/>
              <a:ext cx="3101372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чай за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100 рублей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0"/>
            <p:cNvSpPr txBox="1"/>
            <p:nvPr/>
          </p:nvSpPr>
          <p:spPr>
            <a:xfrm>
              <a:off x="5900388" y="4581790"/>
              <a:ext cx="3101372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чай за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100 рублей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" name="Google Shape;428;p30"/>
            <p:cNvCxnSpPr>
              <a:stCxn id="424" idx="3"/>
              <a:endCxn id="425" idx="1"/>
            </p:cNvCxnSpPr>
            <p:nvPr/>
          </p:nvCxnSpPr>
          <p:spPr>
            <a:xfrm>
              <a:off x="4315428" y="3853710"/>
              <a:ext cx="1584900" cy="21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429" name="Google Shape;429;p30"/>
            <p:cNvCxnSpPr/>
            <p:nvPr/>
          </p:nvCxnSpPr>
          <p:spPr>
            <a:xfrm>
              <a:off x="4315428" y="5008285"/>
              <a:ext cx="1584960" cy="219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447175" y="506550"/>
            <a:ext cx="11587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sz="4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Факторы, определяющие форму кривой </a:t>
            </a:r>
            <a:endParaRPr sz="4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3247400" y="1709434"/>
            <a:ext cx="6096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"Из-за цен на продукты я теперь не могу позволить себе столько же, сколько раньше."</a:t>
            </a:r>
            <a:endParaRPr/>
          </a:p>
        </p:txBody>
      </p:sp>
      <p:grpSp>
        <p:nvGrpSpPr>
          <p:cNvPr id="437" name="Google Shape;437;p31"/>
          <p:cNvGrpSpPr/>
          <p:nvPr/>
        </p:nvGrpSpPr>
        <p:grpSpPr>
          <a:xfrm>
            <a:off x="1479560" y="3739453"/>
            <a:ext cx="8924280" cy="1633003"/>
            <a:chOff x="1276360" y="3706613"/>
            <a:chExt cx="8924280" cy="1633003"/>
          </a:xfrm>
        </p:grpSpPr>
        <p:sp>
          <p:nvSpPr>
            <p:cNvPr id="438" name="Google Shape;438;p31"/>
            <p:cNvSpPr txBox="1"/>
            <p:nvPr/>
          </p:nvSpPr>
          <p:spPr>
            <a:xfrm>
              <a:off x="1276360" y="3708400"/>
              <a:ext cx="3300623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доход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 b="1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50 000 рублей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1"/>
            <p:cNvSpPr txBox="1"/>
            <p:nvPr/>
          </p:nvSpPr>
          <p:spPr>
            <a:xfrm>
              <a:off x="4486920" y="3708400"/>
              <a:ext cx="2973291" cy="1631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продукты в магазине вырастают на 20%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1"/>
            <p:cNvSpPr txBox="1"/>
            <p:nvPr/>
          </p:nvSpPr>
          <p:spPr>
            <a:xfrm>
              <a:off x="7636520" y="3706613"/>
              <a:ext cx="2564120" cy="1631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 b="1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денег просто не хватает на прежний уровень жизни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2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2"/>
          <p:cNvSpPr txBox="1"/>
          <p:nvPr/>
        </p:nvSpPr>
        <p:spPr>
          <a:xfrm>
            <a:off x="447175" y="506550"/>
            <a:ext cx="11356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sz="4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Факторы, определяющие форму кривой </a:t>
            </a:r>
            <a:endParaRPr sz="4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3247400" y="1709434"/>
            <a:ext cx="6096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"Первый кусок был божественен, но пятый мне уже не нужен."</a:t>
            </a:r>
            <a:endParaRPr/>
          </a:p>
        </p:txBody>
      </p:sp>
      <p:sp>
        <p:nvSpPr>
          <p:cNvPr id="448" name="Google Shape;448;p32"/>
          <p:cNvSpPr txBox="1"/>
          <p:nvPr/>
        </p:nvSpPr>
        <p:spPr>
          <a:xfrm>
            <a:off x="512964" y="3004592"/>
            <a:ext cx="6096000" cy="201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цена товара на рынке напрямую зависит от того, насколько «ценным» является последний приобретенный кусок для потребителя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8D959-55BB-0455-F583-1B2153AB96A6}"/>
              </a:ext>
            </a:extLst>
          </p:cNvPr>
          <p:cNvSpPr txBox="1"/>
          <p:nvPr/>
        </p:nvSpPr>
        <p:spPr>
          <a:xfrm>
            <a:off x="6452333" y="3022477"/>
            <a:ext cx="55316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2000" b="1" dirty="0"/>
              <a:t>«Парадокс воды и алмазов»</a:t>
            </a:r>
            <a:r>
              <a:rPr lang="ru-RU" sz="2000" dirty="0"/>
              <a:t> Адама Смита. Вода жизненно необходима, но её много, поэтому её «последний кусок» (предельная полезность) ценится крайне низко, и цена на неё мала. Алмазы практически бесполезны для выживания, но они редки, их предельная полезность высока, поэтому и цена огромна.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"/>
          <p:cNvSpPr txBox="1">
            <a:spLocks noGrp="1"/>
          </p:cNvSpPr>
          <p:nvPr>
            <p:ph type="title"/>
          </p:nvPr>
        </p:nvSpPr>
        <p:spPr>
          <a:xfrm>
            <a:off x="398600" y="280814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Спрос</a:t>
            </a:r>
            <a:endParaRPr/>
          </a:p>
        </p:txBody>
      </p:sp>
      <p:grpSp>
        <p:nvGrpSpPr>
          <p:cNvPr id="455" name="Google Shape;455;p33"/>
          <p:cNvGrpSpPr/>
          <p:nvPr/>
        </p:nvGrpSpPr>
        <p:grpSpPr>
          <a:xfrm>
            <a:off x="6151367" y="-299078"/>
            <a:ext cx="8897698" cy="7193503"/>
            <a:chOff x="11512437" y="-377333"/>
            <a:chExt cx="8897698" cy="7193503"/>
          </a:xfrm>
        </p:grpSpPr>
        <p:sp>
          <p:nvSpPr>
            <p:cNvPr id="456" name="Google Shape;456;p33"/>
            <p:cNvSpPr txBox="1"/>
            <p:nvPr/>
          </p:nvSpPr>
          <p:spPr>
            <a:xfrm>
              <a:off x="12522927" y="6095066"/>
              <a:ext cx="4069027" cy="7211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Изменение спроса</a:t>
              </a:r>
              <a:endParaRPr/>
            </a:p>
          </p:txBody>
        </p:sp>
        <p:grpSp>
          <p:nvGrpSpPr>
            <p:cNvPr id="457" name="Google Shape;457;p33"/>
            <p:cNvGrpSpPr/>
            <p:nvPr/>
          </p:nvGrpSpPr>
          <p:grpSpPr>
            <a:xfrm>
              <a:off x="11553793" y="-377333"/>
              <a:ext cx="8856342" cy="6852172"/>
              <a:chOff x="5599419" y="-853348"/>
              <a:chExt cx="8856342" cy="6852172"/>
            </a:xfrm>
          </p:grpSpPr>
          <p:sp>
            <p:nvSpPr>
              <p:cNvPr id="458" name="Google Shape;458;p33"/>
              <p:cNvSpPr/>
              <p:nvPr/>
            </p:nvSpPr>
            <p:spPr>
              <a:xfrm rot="-10070253">
                <a:off x="6647721" y="-17729"/>
                <a:ext cx="6653048" cy="5376042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38100" cap="flat" cmpd="sng">
                <a:solidFill>
                  <a:srgbClr val="C00000"/>
                </a:solidFill>
                <a:prstDash val="dash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9" name="Google Shape;459;p33"/>
              <p:cNvGrpSpPr/>
              <p:nvPr/>
            </p:nvGrpSpPr>
            <p:grpSpPr>
              <a:xfrm>
                <a:off x="5599419" y="-853348"/>
                <a:ext cx="8856342" cy="6841731"/>
                <a:chOff x="416708" y="-853348"/>
                <a:chExt cx="8856342" cy="6841731"/>
              </a:xfrm>
            </p:grpSpPr>
            <p:grpSp>
              <p:nvGrpSpPr>
                <p:cNvPr id="460" name="Google Shape;460;p33"/>
                <p:cNvGrpSpPr/>
                <p:nvPr/>
              </p:nvGrpSpPr>
              <p:grpSpPr>
                <a:xfrm>
                  <a:off x="416708" y="-853348"/>
                  <a:ext cx="8856342" cy="6841731"/>
                  <a:chOff x="416708" y="-853348"/>
                  <a:chExt cx="8856342" cy="6841731"/>
                </a:xfrm>
              </p:grpSpPr>
              <p:cxnSp>
                <p:nvCxnSpPr>
                  <p:cNvPr id="461" name="Google Shape;461;p33"/>
                  <p:cNvCxnSpPr/>
                  <p:nvPr/>
                </p:nvCxnSpPr>
                <p:spPr>
                  <a:xfrm rot="10800000" flipH="1">
                    <a:off x="961697" y="1135421"/>
                    <a:ext cx="11656" cy="4335213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462" name="Google Shape;462;p33"/>
                  <p:cNvCxnSpPr/>
                  <p:nvPr/>
                </p:nvCxnSpPr>
                <p:spPr>
                  <a:xfrm>
                    <a:off x="961697" y="5486400"/>
                    <a:ext cx="428822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463" name="Google Shape;463;p33"/>
                  <p:cNvSpPr/>
                  <p:nvPr/>
                </p:nvSpPr>
                <p:spPr>
                  <a:xfrm rot="-10070253">
                    <a:off x="2128345" y="-212837"/>
                    <a:ext cx="6653048" cy="53760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noFill/>
                  <a:ln w="38100" cap="flat" cmpd="sng">
                    <a:solidFill>
                      <a:srgbClr val="C00000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4" name="Google Shape;464;p33"/>
                  <p:cNvSpPr txBox="1"/>
                  <p:nvPr/>
                </p:nvSpPr>
                <p:spPr>
                  <a:xfrm>
                    <a:off x="2310764" y="1658006"/>
                    <a:ext cx="34336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33"/>
                  <p:cNvSpPr txBox="1"/>
                  <p:nvPr/>
                </p:nvSpPr>
                <p:spPr>
                  <a:xfrm>
                    <a:off x="4910713" y="5619051"/>
                    <a:ext cx="67417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Q</a:t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33"/>
                  <p:cNvSpPr txBox="1"/>
                  <p:nvPr/>
                </p:nvSpPr>
                <p:spPr>
                  <a:xfrm>
                    <a:off x="416708" y="1135421"/>
                    <a:ext cx="969133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P</a:t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467" name="Google Shape;467;p33"/>
                <p:cNvCxnSpPr/>
                <p:nvPr/>
              </p:nvCxnSpPr>
              <p:spPr>
                <a:xfrm rot="10800000">
                  <a:off x="1688780" y="3152172"/>
                  <a:ext cx="58046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275317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468" name="Google Shape;468;p33"/>
                <p:cNvCxnSpPr/>
                <p:nvPr/>
              </p:nvCxnSpPr>
              <p:spPr>
                <a:xfrm flipH="1">
                  <a:off x="1998390" y="3742341"/>
                  <a:ext cx="484056" cy="15702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275317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</p:grpSp>
          <p:sp>
            <p:nvSpPr>
              <p:cNvPr id="469" name="Google Shape;469;p33"/>
              <p:cNvSpPr txBox="1"/>
              <p:nvPr/>
            </p:nvSpPr>
            <p:spPr>
              <a:xfrm flipH="1">
                <a:off x="6755068" y="1700872"/>
                <a:ext cx="64153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D1</a:t>
                </a:r>
                <a:endParaRPr/>
              </a:p>
            </p:txBody>
          </p:sp>
        </p:grpSp>
        <p:sp>
          <p:nvSpPr>
            <p:cNvPr id="470" name="Google Shape;470;p33"/>
            <p:cNvSpPr txBox="1"/>
            <p:nvPr/>
          </p:nvSpPr>
          <p:spPr>
            <a:xfrm>
              <a:off x="11532213" y="4963522"/>
              <a:ext cx="4411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3"/>
            <p:cNvSpPr txBox="1"/>
            <p:nvPr/>
          </p:nvSpPr>
          <p:spPr>
            <a:xfrm>
              <a:off x="11526266" y="4252778"/>
              <a:ext cx="4411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3"/>
            <p:cNvSpPr txBox="1"/>
            <p:nvPr/>
          </p:nvSpPr>
          <p:spPr>
            <a:xfrm>
              <a:off x="11512437" y="3628187"/>
              <a:ext cx="4411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3" name="Google Shape;473;p33"/>
            <p:cNvCxnSpPr/>
            <p:nvPr/>
          </p:nvCxnSpPr>
          <p:spPr>
            <a:xfrm>
              <a:off x="12110438" y="5148188"/>
              <a:ext cx="2723162" cy="0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74" name="Google Shape;474;p33"/>
            <p:cNvCxnSpPr/>
            <p:nvPr/>
          </p:nvCxnSpPr>
          <p:spPr>
            <a:xfrm>
              <a:off x="12110438" y="4437444"/>
              <a:ext cx="1910362" cy="0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75" name="Google Shape;475;p33"/>
            <p:cNvCxnSpPr/>
            <p:nvPr/>
          </p:nvCxnSpPr>
          <p:spPr>
            <a:xfrm>
              <a:off x="12098782" y="3831039"/>
              <a:ext cx="1454166" cy="0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76" name="Google Shape;476;p33"/>
            <p:cNvCxnSpPr/>
            <p:nvPr/>
          </p:nvCxnSpPr>
          <p:spPr>
            <a:xfrm rot="10800000">
              <a:off x="13791213" y="4967976"/>
              <a:ext cx="580460" cy="0"/>
            </a:xfrm>
            <a:prstGeom prst="straightConnector1">
              <a:avLst/>
            </a:prstGeom>
            <a:noFill/>
            <a:ln w="38100" cap="flat" cmpd="sng">
              <a:solidFill>
                <a:srgbClr val="275317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</p:grpSp>
      <p:grpSp>
        <p:nvGrpSpPr>
          <p:cNvPr id="477" name="Google Shape;477;p33"/>
          <p:cNvGrpSpPr/>
          <p:nvPr/>
        </p:nvGrpSpPr>
        <p:grpSpPr>
          <a:xfrm>
            <a:off x="672160" y="-253382"/>
            <a:ext cx="8119622" cy="7053739"/>
            <a:chOff x="691017" y="186423"/>
            <a:chExt cx="8119622" cy="7053739"/>
          </a:xfrm>
        </p:grpSpPr>
        <p:sp>
          <p:nvSpPr>
            <p:cNvPr id="478" name="Google Shape;478;p33"/>
            <p:cNvSpPr txBox="1"/>
            <p:nvPr/>
          </p:nvSpPr>
          <p:spPr>
            <a:xfrm>
              <a:off x="1427486" y="6519058"/>
              <a:ext cx="6120563" cy="7211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Изменение величины спроса</a:t>
              </a:r>
              <a:endParaRPr/>
            </a:p>
          </p:txBody>
        </p:sp>
        <p:grpSp>
          <p:nvGrpSpPr>
            <p:cNvPr id="479" name="Google Shape;479;p33"/>
            <p:cNvGrpSpPr/>
            <p:nvPr/>
          </p:nvGrpSpPr>
          <p:grpSpPr>
            <a:xfrm>
              <a:off x="691017" y="186423"/>
              <a:ext cx="8119622" cy="6657064"/>
              <a:chOff x="11526266" y="-192666"/>
              <a:chExt cx="8119622" cy="6657064"/>
            </a:xfrm>
          </p:grpSpPr>
          <p:grpSp>
            <p:nvGrpSpPr>
              <p:cNvPr id="480" name="Google Shape;480;p33"/>
              <p:cNvGrpSpPr/>
              <p:nvPr/>
            </p:nvGrpSpPr>
            <p:grpSpPr>
              <a:xfrm>
                <a:off x="11588561" y="-192666"/>
                <a:ext cx="8057327" cy="6657064"/>
                <a:chOff x="451476" y="-668681"/>
                <a:chExt cx="8057327" cy="6657064"/>
              </a:xfrm>
            </p:grpSpPr>
            <p:grpSp>
              <p:nvGrpSpPr>
                <p:cNvPr id="481" name="Google Shape;481;p33"/>
                <p:cNvGrpSpPr/>
                <p:nvPr/>
              </p:nvGrpSpPr>
              <p:grpSpPr>
                <a:xfrm>
                  <a:off x="451476" y="-668681"/>
                  <a:ext cx="8057327" cy="6657064"/>
                  <a:chOff x="451476" y="-668681"/>
                  <a:chExt cx="8057327" cy="6657064"/>
                </a:xfrm>
              </p:grpSpPr>
              <p:cxnSp>
                <p:nvCxnSpPr>
                  <p:cNvPr id="482" name="Google Shape;482;p33"/>
                  <p:cNvCxnSpPr/>
                  <p:nvPr/>
                </p:nvCxnSpPr>
                <p:spPr>
                  <a:xfrm rot="10800000">
                    <a:off x="961697" y="1159963"/>
                    <a:ext cx="0" cy="4310671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483" name="Google Shape;483;p33"/>
                  <p:cNvCxnSpPr/>
                  <p:nvPr/>
                </p:nvCxnSpPr>
                <p:spPr>
                  <a:xfrm>
                    <a:off x="961697" y="5486400"/>
                    <a:ext cx="428822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484" name="Google Shape;484;p33"/>
                  <p:cNvSpPr/>
                  <p:nvPr/>
                </p:nvSpPr>
                <p:spPr>
                  <a:xfrm rot="-10070253">
                    <a:off x="1364098" y="-28170"/>
                    <a:ext cx="6653048" cy="53760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noFill/>
                  <a:ln w="38100" cap="flat" cmpd="sng">
                    <a:solidFill>
                      <a:srgbClr val="C00000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33"/>
                  <p:cNvSpPr txBox="1"/>
                  <p:nvPr/>
                </p:nvSpPr>
                <p:spPr>
                  <a:xfrm>
                    <a:off x="1535776" y="1656842"/>
                    <a:ext cx="34336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33"/>
                  <p:cNvSpPr txBox="1"/>
                  <p:nvPr/>
                </p:nvSpPr>
                <p:spPr>
                  <a:xfrm>
                    <a:off x="4910713" y="5619051"/>
                    <a:ext cx="67417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Q</a:t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33"/>
                  <p:cNvSpPr txBox="1"/>
                  <p:nvPr/>
                </p:nvSpPr>
                <p:spPr>
                  <a:xfrm>
                    <a:off x="451476" y="1114715"/>
                    <a:ext cx="67417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P</a:t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488" name="Google Shape;488;p33"/>
                <p:cNvCxnSpPr/>
                <p:nvPr/>
              </p:nvCxnSpPr>
              <p:spPr>
                <a:xfrm rot="10800000">
                  <a:off x="1065158" y="4090363"/>
                  <a:ext cx="0" cy="526078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275317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489" name="Google Shape;489;p33"/>
                <p:cNvCxnSpPr/>
                <p:nvPr/>
              </p:nvCxnSpPr>
              <p:spPr>
                <a:xfrm rot="10800000">
                  <a:off x="2006915" y="3909688"/>
                  <a:ext cx="659778" cy="604743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275317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</p:grpSp>
          <p:sp>
            <p:nvSpPr>
              <p:cNvPr id="490" name="Google Shape;490;p33"/>
              <p:cNvSpPr txBox="1"/>
              <p:nvPr/>
            </p:nvSpPr>
            <p:spPr>
              <a:xfrm>
                <a:off x="11532213" y="4963522"/>
                <a:ext cx="4411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P1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3"/>
              <p:cNvSpPr txBox="1"/>
              <p:nvPr/>
            </p:nvSpPr>
            <p:spPr>
              <a:xfrm>
                <a:off x="11526266" y="4252778"/>
                <a:ext cx="4411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2" name="Google Shape;492;p33"/>
              <p:cNvCxnSpPr/>
              <p:nvPr/>
            </p:nvCxnSpPr>
            <p:spPr>
              <a:xfrm>
                <a:off x="12110438" y="5148188"/>
                <a:ext cx="1651811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A5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493" name="Google Shape;493;p33"/>
              <p:cNvCxnSpPr/>
              <p:nvPr/>
            </p:nvCxnSpPr>
            <p:spPr>
              <a:xfrm>
                <a:off x="12110438" y="4437444"/>
                <a:ext cx="905787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A5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494" name="Google Shape;494;p33"/>
              <p:cNvCxnSpPr/>
              <p:nvPr/>
            </p:nvCxnSpPr>
            <p:spPr>
              <a:xfrm rot="10800000">
                <a:off x="13181789" y="5817160"/>
                <a:ext cx="58046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75317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</p:grpSp>
        <p:cxnSp>
          <p:nvCxnSpPr>
            <p:cNvPr id="495" name="Google Shape;495;p33"/>
            <p:cNvCxnSpPr/>
            <p:nvPr/>
          </p:nvCxnSpPr>
          <p:spPr>
            <a:xfrm rot="10800000">
              <a:off x="2193944" y="4794569"/>
              <a:ext cx="10974" cy="1485557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496" name="Google Shape;496;p33"/>
            <p:cNvCxnSpPr/>
            <p:nvPr/>
          </p:nvCxnSpPr>
          <p:spPr>
            <a:xfrm rot="10800000">
              <a:off x="2962070" y="5463140"/>
              <a:ext cx="6459" cy="830932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497" name="Google Shape;497;p33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3"/>
          <p:cNvSpPr txBox="1"/>
          <p:nvPr/>
        </p:nvSpPr>
        <p:spPr>
          <a:xfrm>
            <a:off x="2864125" y="1522425"/>
            <a:ext cx="269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изменении цены</a:t>
            </a:r>
            <a:endParaRPr/>
          </a:p>
        </p:txBody>
      </p:sp>
      <p:sp>
        <p:nvSpPr>
          <p:cNvPr id="499" name="Google Shape;499;p33"/>
          <p:cNvSpPr txBox="1"/>
          <p:nvPr/>
        </p:nvSpPr>
        <p:spPr>
          <a:xfrm>
            <a:off x="8682949" y="1437675"/>
            <a:ext cx="310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Покупатели берут меньше при любой цене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3"/>
          <p:cNvSpPr txBox="1"/>
          <p:nvPr/>
        </p:nvSpPr>
        <p:spPr>
          <a:xfrm>
            <a:off x="398600" y="552753"/>
            <a:ext cx="8229600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 sz="46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Эластичность спроса</a:t>
            </a:r>
            <a:endParaRPr/>
          </a:p>
        </p:txBody>
      </p:sp>
      <p:sp>
        <p:nvSpPr>
          <p:cNvPr id="497" name="Google Shape;497;p43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600" y="1349391"/>
            <a:ext cx="11159570" cy="5347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9e43925ec_1_18"/>
          <p:cNvSpPr txBox="1">
            <a:spLocks noGrp="1"/>
          </p:cNvSpPr>
          <p:nvPr>
            <p:ph type="title"/>
          </p:nvPr>
        </p:nvSpPr>
        <p:spPr>
          <a:xfrm>
            <a:off x="398600" y="116977"/>
            <a:ext cx="10712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Эффект Веблена</a:t>
            </a:r>
            <a:endParaRPr/>
          </a:p>
        </p:txBody>
      </p:sp>
      <p:sp>
        <p:nvSpPr>
          <p:cNvPr id="506" name="Google Shape;506;g3f9e43925ec_1_1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f9e43925ec_1_18"/>
          <p:cNvSpPr txBox="1"/>
          <p:nvPr/>
        </p:nvSpPr>
        <p:spPr>
          <a:xfrm>
            <a:off x="3256850" y="1925600"/>
            <a:ext cx="8523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>
                <a:solidFill>
                  <a:schemeClr val="dk1"/>
                </a:solidFill>
              </a:rPr>
              <a:t>«Я покупаю это, чтобы показать, какой я богатый»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508" name="Google Shape;508;g3f9e43925ec_1_18"/>
          <p:cNvSpPr txBox="1"/>
          <p:nvPr/>
        </p:nvSpPr>
        <p:spPr>
          <a:xfrm>
            <a:off x="3001525" y="3232100"/>
            <a:ext cx="8523300" cy="17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50" b="1">
                <a:solidFill>
                  <a:schemeClr val="dk1"/>
                </a:solidFill>
              </a:rPr>
              <a:t>Цена  ↑ Престиж  ↑ Спрос  </a:t>
            </a:r>
            <a:endParaRPr sz="185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5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50">
                <a:solidFill>
                  <a:schemeClr val="dk1"/>
                </a:solidFill>
              </a:rPr>
              <a:t>Сумка Hermes за $10,000 или часы Rolex. </a:t>
            </a:r>
            <a:endParaRPr sz="185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50">
                <a:solidFill>
                  <a:schemeClr val="dk1"/>
                </a:solidFill>
              </a:rPr>
              <a:t>Если их цена упадет в 10 раз, их перестанут покупать те, кто хочет подчеркнуть свой высокий статус.</a:t>
            </a:r>
            <a:endParaRPr sz="1850">
              <a:solidFill>
                <a:schemeClr val="dk1"/>
              </a:solidFill>
            </a:endParaRPr>
          </a:p>
        </p:txBody>
      </p:sp>
      <p:grpSp>
        <p:nvGrpSpPr>
          <p:cNvPr id="509" name="Google Shape;509;g3f9e43925ec_1_18"/>
          <p:cNvGrpSpPr/>
          <p:nvPr/>
        </p:nvGrpSpPr>
        <p:grpSpPr>
          <a:xfrm>
            <a:off x="730827" y="1990838"/>
            <a:ext cx="3654832" cy="3486160"/>
            <a:chOff x="730827" y="1990838"/>
            <a:chExt cx="3654832" cy="3486160"/>
          </a:xfrm>
        </p:grpSpPr>
        <p:grpSp>
          <p:nvGrpSpPr>
            <p:cNvPr id="510" name="Google Shape;510;g3f9e43925ec_1_18"/>
            <p:cNvGrpSpPr/>
            <p:nvPr/>
          </p:nvGrpSpPr>
          <p:grpSpPr>
            <a:xfrm>
              <a:off x="730827" y="1990838"/>
              <a:ext cx="3654832" cy="3261755"/>
              <a:chOff x="2200458" y="-865290"/>
              <a:chExt cx="8016741" cy="7154541"/>
            </a:xfrm>
          </p:grpSpPr>
          <p:sp>
            <p:nvSpPr>
              <p:cNvPr id="511" name="Google Shape;511;g3f9e43925ec_1_18"/>
              <p:cNvSpPr/>
              <p:nvPr/>
            </p:nvSpPr>
            <p:spPr>
              <a:xfrm rot="10177986">
                <a:off x="3673759" y="-371077"/>
                <a:ext cx="6044981" cy="6089174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7375" cap="flat" cmpd="sng">
                <a:solidFill>
                  <a:srgbClr val="C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41675" tIns="20825" rIns="41675" bIns="2082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2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2" name="Google Shape;512;g3f9e43925ec_1_18"/>
              <p:cNvGrpSpPr/>
              <p:nvPr/>
            </p:nvGrpSpPr>
            <p:grpSpPr>
              <a:xfrm>
                <a:off x="2200458" y="1249568"/>
                <a:ext cx="6427396" cy="5039682"/>
                <a:chOff x="2259501" y="1249568"/>
                <a:chExt cx="6427396" cy="5039682"/>
              </a:xfrm>
            </p:grpSpPr>
            <p:grpSp>
              <p:nvGrpSpPr>
                <p:cNvPr id="513" name="Google Shape;513;g3f9e43925ec_1_18"/>
                <p:cNvGrpSpPr/>
                <p:nvPr/>
              </p:nvGrpSpPr>
              <p:grpSpPr>
                <a:xfrm>
                  <a:off x="2259501" y="1249568"/>
                  <a:ext cx="6427396" cy="5039682"/>
                  <a:chOff x="4323098" y="2383437"/>
                  <a:chExt cx="2948753" cy="3146065"/>
                </a:xfrm>
              </p:grpSpPr>
              <p:cxnSp>
                <p:nvCxnSpPr>
                  <p:cNvPr id="514" name="Google Shape;514;g3f9e43925ec_1_18"/>
                  <p:cNvCxnSpPr/>
                  <p:nvPr/>
                </p:nvCxnSpPr>
                <p:spPr>
                  <a:xfrm rot="10800000">
                    <a:off x="4572000" y="2503417"/>
                    <a:ext cx="0" cy="2746500"/>
                  </a:xfrm>
                  <a:prstGeom prst="straightConnector1">
                    <a:avLst/>
                  </a:prstGeom>
                  <a:noFill/>
                  <a:ln w="1737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515" name="Google Shape;515;g3f9e43925ec_1_18"/>
                  <p:cNvCxnSpPr/>
                  <p:nvPr/>
                </p:nvCxnSpPr>
                <p:spPr>
                  <a:xfrm>
                    <a:off x="4582510" y="5249917"/>
                    <a:ext cx="2543400" cy="0"/>
                  </a:xfrm>
                  <a:prstGeom prst="straightConnector1">
                    <a:avLst/>
                  </a:prstGeom>
                  <a:noFill/>
                  <a:ln w="1737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516" name="Google Shape;516;g3f9e43925ec_1_18"/>
                  <p:cNvSpPr txBox="1"/>
                  <p:nvPr/>
                </p:nvSpPr>
                <p:spPr>
                  <a:xfrm rot="-5400000">
                    <a:off x="4173548" y="2532987"/>
                    <a:ext cx="468600" cy="1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675" tIns="20825" rIns="41675" bIns="20825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821" b="1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Цена</a:t>
                    </a:r>
                    <a:endParaRPr sz="638"/>
                  </a:p>
                </p:txBody>
              </p:sp>
              <p:sp>
                <p:nvSpPr>
                  <p:cNvPr id="517" name="Google Shape;517;g3f9e43925ec_1_18"/>
                  <p:cNvSpPr txBox="1"/>
                  <p:nvPr/>
                </p:nvSpPr>
                <p:spPr>
                  <a:xfrm>
                    <a:off x="6177450" y="5298802"/>
                    <a:ext cx="1094400" cy="230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675" tIns="20825" rIns="41675" bIns="20825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821" b="1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Количество товара</a:t>
                    </a:r>
                    <a:endParaRPr sz="638"/>
                  </a:p>
                </p:txBody>
              </p:sp>
            </p:grpSp>
            <p:sp>
              <p:nvSpPr>
                <p:cNvPr id="518" name="Google Shape;518;g3f9e43925ec_1_18"/>
                <p:cNvSpPr txBox="1"/>
                <p:nvPr/>
              </p:nvSpPr>
              <p:spPr>
                <a:xfrm>
                  <a:off x="5545903" y="4309866"/>
                  <a:ext cx="1889100" cy="120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1675" tIns="20825" rIns="41675" bIns="20825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821" b="1">
                      <a:solidFill>
                        <a:schemeClr val="dk1"/>
                      </a:solidFill>
                    </a:rPr>
                    <a:t>Кривая спроса в законе спроса и предложения</a:t>
                  </a:r>
                  <a:endParaRPr sz="638"/>
                </a:p>
              </p:txBody>
            </p:sp>
          </p:grpSp>
        </p:grpSp>
        <p:sp>
          <p:nvSpPr>
            <p:cNvPr id="519" name="Google Shape;519;g3f9e43925ec_1_18"/>
            <p:cNvSpPr/>
            <p:nvPr/>
          </p:nvSpPr>
          <p:spPr>
            <a:xfrm rot="-5065259">
              <a:off x="1427353" y="2582766"/>
              <a:ext cx="2755653" cy="2775862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7375" cap="flat" cmpd="sng">
              <a:solidFill>
                <a:srgbClr val="38761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1675" tIns="20825" rIns="41675" bIns="208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2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f9e43925ec_1_18"/>
            <p:cNvSpPr txBox="1"/>
            <p:nvPr/>
          </p:nvSpPr>
          <p:spPr>
            <a:xfrm>
              <a:off x="2168300" y="2684900"/>
              <a:ext cx="990300" cy="42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675" tIns="20825" rIns="41675" bIns="208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21" b="1">
                  <a:solidFill>
                    <a:schemeClr val="dk1"/>
                  </a:solidFill>
                </a:rPr>
                <a:t>Кривая спроса на товар Веблена</a:t>
              </a:r>
              <a:endParaRPr sz="638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9e43925ec_1_25"/>
          <p:cNvSpPr txBox="1">
            <a:spLocks noGrp="1"/>
          </p:cNvSpPr>
          <p:nvPr>
            <p:ph type="title"/>
          </p:nvPr>
        </p:nvSpPr>
        <p:spPr>
          <a:xfrm>
            <a:off x="398600" y="116977"/>
            <a:ext cx="10712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Эффект Гриффина</a:t>
            </a:r>
            <a:endParaRPr/>
          </a:p>
        </p:txBody>
      </p:sp>
      <p:sp>
        <p:nvSpPr>
          <p:cNvPr id="527" name="Google Shape;527;g3f9e43925ec_1_25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9e43925ec_1_25"/>
          <p:cNvSpPr txBox="1"/>
          <p:nvPr/>
        </p:nvSpPr>
        <p:spPr>
          <a:xfrm>
            <a:off x="2461450" y="4379550"/>
            <a:ext cx="7443300" cy="207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50" b="1" dirty="0">
                <a:solidFill>
                  <a:schemeClr val="dk1"/>
                </a:solidFill>
              </a:rPr>
              <a:t>Цена  </a:t>
            </a:r>
            <a:r>
              <a:rPr lang="ru-RU" sz="2450" b="1" dirty="0">
                <a:solidFill>
                  <a:schemeClr val="dk1"/>
                </a:solidFill>
              </a:rPr>
              <a:t>↑ </a:t>
            </a:r>
            <a:r>
              <a:rPr lang="ru-RU" sz="1650" b="1" dirty="0">
                <a:solidFill>
                  <a:schemeClr val="dk1"/>
                </a:solidFill>
              </a:rPr>
              <a:t>Восприятие качества  </a:t>
            </a:r>
            <a:r>
              <a:rPr lang="ru-RU" sz="2450" b="1" dirty="0">
                <a:solidFill>
                  <a:schemeClr val="dk1"/>
                </a:solidFill>
              </a:rPr>
              <a:t>↑</a:t>
            </a:r>
            <a:r>
              <a:rPr lang="ru-RU" sz="1650" b="1" dirty="0">
                <a:solidFill>
                  <a:schemeClr val="dk1"/>
                </a:solidFill>
              </a:rPr>
              <a:t> Спрос   (среди бедных слоев)</a:t>
            </a:r>
            <a:endParaRPr sz="165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50" dirty="0">
                <a:solidFill>
                  <a:schemeClr val="dk1"/>
                </a:solidFill>
              </a:rPr>
              <a:t>Самый дешевый бренд смартфона. 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50" dirty="0">
                <a:solidFill>
                  <a:schemeClr val="dk1"/>
                </a:solidFill>
              </a:rPr>
              <a:t>Если цена вырастет на 10%, его могут начать покупать активнее, так как он перестанет казаться «совсем уж игрушечным/сломанным» и станет «нормальным бюджетным вариантом».</a:t>
            </a:r>
            <a:endParaRPr sz="1650" dirty="0">
              <a:solidFill>
                <a:schemeClr val="dk1"/>
              </a:solidFill>
            </a:endParaRPr>
          </a:p>
        </p:txBody>
      </p:sp>
      <p:sp>
        <p:nvSpPr>
          <p:cNvPr id="529" name="Google Shape;529;g3f9e43925ec_1_25"/>
          <p:cNvSpPr txBox="1"/>
          <p:nvPr/>
        </p:nvSpPr>
        <p:spPr>
          <a:xfrm>
            <a:off x="1263450" y="3793950"/>
            <a:ext cx="9406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>
                <a:solidFill>
                  <a:schemeClr val="dk1"/>
                </a:solidFill>
              </a:rPr>
              <a:t>«Я покупаю это, потому что это лучшее из доступного мне»</a:t>
            </a:r>
            <a:endParaRPr sz="2300" b="1">
              <a:solidFill>
                <a:schemeClr val="dk1"/>
              </a:solidFill>
            </a:endParaRPr>
          </a:p>
        </p:txBody>
      </p:sp>
      <p:grpSp>
        <p:nvGrpSpPr>
          <p:cNvPr id="530" name="Google Shape;530;g3f9e43925ec_1_25"/>
          <p:cNvGrpSpPr/>
          <p:nvPr/>
        </p:nvGrpSpPr>
        <p:grpSpPr>
          <a:xfrm>
            <a:off x="3916549" y="-71914"/>
            <a:ext cx="4533094" cy="3655878"/>
            <a:chOff x="730827" y="1903942"/>
            <a:chExt cx="4533094" cy="3400500"/>
          </a:xfrm>
        </p:grpSpPr>
        <p:grpSp>
          <p:nvGrpSpPr>
            <p:cNvPr id="531" name="Google Shape;531;g3f9e43925ec_1_25"/>
            <p:cNvGrpSpPr/>
            <p:nvPr/>
          </p:nvGrpSpPr>
          <p:grpSpPr>
            <a:xfrm>
              <a:off x="730827" y="1990838"/>
              <a:ext cx="4303240" cy="3249924"/>
              <a:chOff x="2200458" y="-865290"/>
              <a:chExt cx="9439000" cy="7128590"/>
            </a:xfrm>
          </p:grpSpPr>
          <p:sp>
            <p:nvSpPr>
              <p:cNvPr id="532" name="Google Shape;532;g3f9e43925ec_1_25"/>
              <p:cNvSpPr/>
              <p:nvPr/>
            </p:nvSpPr>
            <p:spPr>
              <a:xfrm rot="10177986">
                <a:off x="3673759" y="-371077"/>
                <a:ext cx="6044981" cy="6089174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7375" cap="flat" cmpd="sng">
                <a:solidFill>
                  <a:srgbClr val="C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41675" tIns="20825" rIns="41675" bIns="2082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2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33" name="Google Shape;533;g3f9e43925ec_1_25"/>
              <p:cNvGrpSpPr/>
              <p:nvPr/>
            </p:nvGrpSpPr>
            <p:grpSpPr>
              <a:xfrm>
                <a:off x="2200458" y="1249568"/>
                <a:ext cx="9439000" cy="5013732"/>
                <a:chOff x="2259501" y="1249568"/>
                <a:chExt cx="9439000" cy="5013732"/>
              </a:xfrm>
            </p:grpSpPr>
            <p:grpSp>
              <p:nvGrpSpPr>
                <p:cNvPr id="534" name="Google Shape;534;g3f9e43925ec_1_25"/>
                <p:cNvGrpSpPr/>
                <p:nvPr/>
              </p:nvGrpSpPr>
              <p:grpSpPr>
                <a:xfrm>
                  <a:off x="2259501" y="1249568"/>
                  <a:ext cx="9439000" cy="5013732"/>
                  <a:chOff x="4323098" y="2383437"/>
                  <a:chExt cx="4330413" cy="3129865"/>
                </a:xfrm>
              </p:grpSpPr>
              <p:cxnSp>
                <p:nvCxnSpPr>
                  <p:cNvPr id="535" name="Google Shape;535;g3f9e43925ec_1_25"/>
                  <p:cNvCxnSpPr/>
                  <p:nvPr/>
                </p:nvCxnSpPr>
                <p:spPr>
                  <a:xfrm rot="10800000">
                    <a:off x="4572000" y="2503417"/>
                    <a:ext cx="0" cy="2746500"/>
                  </a:xfrm>
                  <a:prstGeom prst="straightConnector1">
                    <a:avLst/>
                  </a:prstGeom>
                  <a:noFill/>
                  <a:ln w="1737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536" name="Google Shape;536;g3f9e43925ec_1_25"/>
                  <p:cNvCxnSpPr/>
                  <p:nvPr/>
                </p:nvCxnSpPr>
                <p:spPr>
                  <a:xfrm rot="10800000" flipH="1">
                    <a:off x="4582510" y="5203417"/>
                    <a:ext cx="4071000" cy="46500"/>
                  </a:xfrm>
                  <a:prstGeom prst="straightConnector1">
                    <a:avLst/>
                  </a:prstGeom>
                  <a:noFill/>
                  <a:ln w="1737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537" name="Google Shape;537;g3f9e43925ec_1_25"/>
                  <p:cNvSpPr txBox="1"/>
                  <p:nvPr/>
                </p:nvSpPr>
                <p:spPr>
                  <a:xfrm rot="-5400000">
                    <a:off x="4173548" y="2532987"/>
                    <a:ext cx="468600" cy="1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675" tIns="20825" rIns="41675" bIns="20825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821" b="1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Цена</a:t>
                    </a:r>
                    <a:endParaRPr sz="638"/>
                  </a:p>
                </p:txBody>
              </p:sp>
              <p:sp>
                <p:nvSpPr>
                  <p:cNvPr id="538" name="Google Shape;538;g3f9e43925ec_1_25"/>
                  <p:cNvSpPr txBox="1"/>
                  <p:nvPr/>
                </p:nvSpPr>
                <p:spPr>
                  <a:xfrm>
                    <a:off x="6177450" y="5298802"/>
                    <a:ext cx="1094400" cy="21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675" tIns="20825" rIns="41675" bIns="20825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821" b="1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Количество товара</a:t>
                    </a:r>
                    <a:endParaRPr sz="638"/>
                  </a:p>
                </p:txBody>
              </p:sp>
            </p:grpSp>
            <p:sp>
              <p:nvSpPr>
                <p:cNvPr id="539" name="Google Shape;539;g3f9e43925ec_1_25"/>
                <p:cNvSpPr txBox="1"/>
                <p:nvPr/>
              </p:nvSpPr>
              <p:spPr>
                <a:xfrm>
                  <a:off x="4856662" y="3341041"/>
                  <a:ext cx="1889100" cy="1116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1675" tIns="20825" rIns="41675" bIns="20825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821" b="1">
                      <a:solidFill>
                        <a:schemeClr val="dk1"/>
                      </a:solidFill>
                    </a:rPr>
                    <a:t>Кривая спроса в законе спроса и предложения</a:t>
                  </a:r>
                  <a:endParaRPr sz="638"/>
                </a:p>
              </p:txBody>
            </p:sp>
          </p:grpSp>
        </p:grpSp>
        <p:sp>
          <p:nvSpPr>
            <p:cNvPr id="540" name="Google Shape;540;g3f9e43925ec_1_25"/>
            <p:cNvSpPr/>
            <p:nvPr/>
          </p:nvSpPr>
          <p:spPr>
            <a:xfrm rot="6335954">
              <a:off x="2178821" y="2216275"/>
              <a:ext cx="2755599" cy="2775833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7375" cap="flat" cmpd="sng">
              <a:solidFill>
                <a:srgbClr val="38761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1675" tIns="20825" rIns="41675" bIns="208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2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3f9e43925ec_1_25"/>
            <p:cNvSpPr txBox="1"/>
            <p:nvPr/>
          </p:nvSpPr>
          <p:spPr>
            <a:xfrm>
              <a:off x="3564000" y="3911613"/>
              <a:ext cx="9903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675" tIns="20825" rIns="41675" bIns="208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21" b="1">
                  <a:solidFill>
                    <a:schemeClr val="dk1"/>
                  </a:solidFill>
                </a:rPr>
                <a:t>Кривая спроса на товары Гриффина</a:t>
              </a:r>
              <a:endParaRPr sz="638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"/>
          <p:cNvSpPr txBox="1">
            <a:spLocks noGrp="1"/>
          </p:cNvSpPr>
          <p:nvPr>
            <p:ph type="title"/>
          </p:nvPr>
        </p:nvSpPr>
        <p:spPr>
          <a:xfrm>
            <a:off x="435377" y="566736"/>
            <a:ext cx="8229600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Предложение</a:t>
            </a:r>
            <a:endParaRPr/>
          </a:p>
        </p:txBody>
      </p:sp>
      <p:sp>
        <p:nvSpPr>
          <p:cNvPr id="548" name="Google Shape;548;p34"/>
          <p:cNvSpPr txBox="1"/>
          <p:nvPr/>
        </p:nvSpPr>
        <p:spPr>
          <a:xfrm>
            <a:off x="7413677" y="2725585"/>
            <a:ext cx="4227140" cy="3329066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Функция предложения:</a:t>
            </a:r>
            <a:endParaRPr dirty="0"/>
          </a:p>
          <a:p>
            <a:pPr marL="0" marR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ru-RU" sz="1600" b="1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ru-RU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ru-RU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dP</a:t>
            </a: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где </a:t>
            </a:r>
            <a:endParaRPr dirty="0"/>
          </a:p>
          <a:p>
            <a:pPr marL="0" marR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точка пресечения  с осью абсцисс</a:t>
            </a: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тангенс угла наклона кривой,</a:t>
            </a: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ru-RU" sz="1600" b="1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величина предложения (</a:t>
            </a:r>
            <a:r>
              <a:rPr lang="ru-RU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supply</a:t>
            </a: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0" marR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ru-RU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lang="ru-RU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цена</a:t>
            </a:r>
            <a:endParaRPr dirty="0"/>
          </a:p>
        </p:txBody>
      </p:sp>
      <p:sp>
        <p:nvSpPr>
          <p:cNvPr id="549" name="Google Shape;549;p34"/>
          <p:cNvSpPr txBox="1"/>
          <p:nvPr/>
        </p:nvSpPr>
        <p:spPr>
          <a:xfrm>
            <a:off x="435377" y="1262380"/>
            <a:ext cx="1049146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это количество данного товара, которое  продавцы готовы продать по данной цене (в данном месте, в данное время при прочих равных условиях)</a:t>
            </a:r>
            <a:endParaRPr/>
          </a:p>
        </p:txBody>
      </p:sp>
      <p:graphicFrame>
        <p:nvGraphicFramePr>
          <p:cNvPr id="550" name="Google Shape;550;p34"/>
          <p:cNvGraphicFramePr/>
          <p:nvPr/>
        </p:nvGraphicFramePr>
        <p:xfrm>
          <a:off x="428200" y="2958839"/>
          <a:ext cx="3409050" cy="3036860"/>
        </p:xfrm>
        <a:graphic>
          <a:graphicData uri="http://schemas.openxmlformats.org/drawingml/2006/table">
            <a:tbl>
              <a:tblPr firstRow="1" bandRow="1">
                <a:noFill/>
                <a:tableStyleId>{70B68FA5-C104-46DC-AD42-BCEE44FBD859}</a:tableStyleId>
              </a:tblPr>
              <a:tblGrid>
                <a:gridCol w="170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Цена часа работы няни, P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(руб/час)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</a:rPr>
                        <a:t>Сколько будут готовы предложить при этой цене, </a:t>
                      </a:r>
                      <a:r>
                        <a:rPr lang="ru-RU" sz="1400" dirty="0" err="1">
                          <a:solidFill>
                            <a:srgbClr val="000000"/>
                          </a:solidFill>
                        </a:rPr>
                        <a:t>Qs</a:t>
                      </a:r>
                      <a:endParaRPr sz="140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lang="ru-RU" sz="1400" dirty="0" err="1">
                          <a:solidFill>
                            <a:srgbClr val="000000"/>
                          </a:solidFill>
                        </a:rPr>
                        <a:t>тыс</a:t>
                      </a:r>
                      <a:r>
                        <a:rPr lang="ru-RU" sz="1400" dirty="0">
                          <a:solidFill>
                            <a:srgbClr val="000000"/>
                          </a:solidFill>
                        </a:rPr>
                        <a:t> часов в неделю)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1000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800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70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600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50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400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30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rgbClr val="000000"/>
                          </a:solidFill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51" name="Google Shape;551;p34"/>
          <p:cNvGrpSpPr/>
          <p:nvPr/>
        </p:nvGrpSpPr>
        <p:grpSpPr>
          <a:xfrm>
            <a:off x="3986350" y="2862033"/>
            <a:ext cx="3399878" cy="3775041"/>
            <a:chOff x="3982385" y="2427890"/>
            <a:chExt cx="3399878" cy="3775041"/>
          </a:xfrm>
        </p:grpSpPr>
        <p:sp>
          <p:nvSpPr>
            <p:cNvPr id="552" name="Google Shape;552;p34"/>
            <p:cNvSpPr txBox="1"/>
            <p:nvPr/>
          </p:nvSpPr>
          <p:spPr>
            <a:xfrm>
              <a:off x="4252333" y="5833631"/>
              <a:ext cx="297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Кривая предложения</a:t>
              </a:r>
              <a:endParaRPr/>
            </a:p>
          </p:txBody>
        </p:sp>
        <p:cxnSp>
          <p:nvCxnSpPr>
            <p:cNvPr id="553" name="Google Shape;553;p34"/>
            <p:cNvCxnSpPr/>
            <p:nvPr/>
          </p:nvCxnSpPr>
          <p:spPr>
            <a:xfrm rot="10800000">
              <a:off x="4572000" y="2503419"/>
              <a:ext cx="0" cy="2746498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554" name="Google Shape;554;p34"/>
            <p:cNvCxnSpPr/>
            <p:nvPr/>
          </p:nvCxnSpPr>
          <p:spPr>
            <a:xfrm>
              <a:off x="4582510" y="5249917"/>
              <a:ext cx="2543504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555" name="Google Shape;555;p34"/>
            <p:cNvCxnSpPr/>
            <p:nvPr/>
          </p:nvCxnSpPr>
          <p:spPr>
            <a:xfrm rot="10800000" flipH="1">
              <a:off x="4572000" y="2822028"/>
              <a:ext cx="2218221" cy="2033751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56" name="Google Shape;556;p34"/>
            <p:cNvSpPr txBox="1"/>
            <p:nvPr/>
          </p:nvSpPr>
          <p:spPr>
            <a:xfrm>
              <a:off x="3982385" y="3119032"/>
              <a:ext cx="620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</a:t>
              </a:r>
              <a:endParaRPr/>
            </a:p>
          </p:txBody>
        </p:sp>
        <p:sp>
          <p:nvSpPr>
            <p:cNvPr id="557" name="Google Shape;557;p34"/>
            <p:cNvSpPr txBox="1"/>
            <p:nvPr/>
          </p:nvSpPr>
          <p:spPr>
            <a:xfrm>
              <a:off x="4011238" y="3467557"/>
              <a:ext cx="620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800</a:t>
              </a:r>
              <a:endParaRPr/>
            </a:p>
          </p:txBody>
        </p:sp>
        <p:sp>
          <p:nvSpPr>
            <p:cNvPr id="558" name="Google Shape;558;p34"/>
            <p:cNvSpPr txBox="1"/>
            <p:nvPr/>
          </p:nvSpPr>
          <p:spPr>
            <a:xfrm>
              <a:off x="4011240" y="3826957"/>
              <a:ext cx="620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600</a:t>
              </a:r>
              <a:endParaRPr/>
            </a:p>
          </p:txBody>
        </p:sp>
        <p:sp>
          <p:nvSpPr>
            <p:cNvPr id="559" name="Google Shape;559;p34"/>
            <p:cNvSpPr txBox="1"/>
            <p:nvPr/>
          </p:nvSpPr>
          <p:spPr>
            <a:xfrm>
              <a:off x="4008208" y="4185255"/>
              <a:ext cx="677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/>
            </a:p>
          </p:txBody>
        </p:sp>
        <p:sp>
          <p:nvSpPr>
            <p:cNvPr id="560" name="Google Shape;560;p34"/>
            <p:cNvSpPr txBox="1"/>
            <p:nvPr/>
          </p:nvSpPr>
          <p:spPr>
            <a:xfrm>
              <a:off x="4008209" y="4543533"/>
              <a:ext cx="620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/>
            </a:p>
          </p:txBody>
        </p:sp>
        <p:sp>
          <p:nvSpPr>
            <p:cNvPr id="561" name="Google Shape;561;p34"/>
            <p:cNvSpPr txBox="1"/>
            <p:nvPr/>
          </p:nvSpPr>
          <p:spPr>
            <a:xfrm>
              <a:off x="4594713" y="5325907"/>
              <a:ext cx="517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562" name="Google Shape;562;p34"/>
            <p:cNvSpPr txBox="1"/>
            <p:nvPr/>
          </p:nvSpPr>
          <p:spPr>
            <a:xfrm>
              <a:off x="4971736" y="5323107"/>
              <a:ext cx="465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/>
            </a:p>
          </p:txBody>
        </p:sp>
        <p:sp>
          <p:nvSpPr>
            <p:cNvPr id="563" name="Google Shape;563;p34"/>
            <p:cNvSpPr txBox="1"/>
            <p:nvPr/>
          </p:nvSpPr>
          <p:spPr>
            <a:xfrm>
              <a:off x="5304085" y="5320282"/>
              <a:ext cx="465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/>
            </a:p>
          </p:txBody>
        </p:sp>
        <p:sp>
          <p:nvSpPr>
            <p:cNvPr id="564" name="Google Shape;564;p34"/>
            <p:cNvSpPr txBox="1"/>
            <p:nvPr/>
          </p:nvSpPr>
          <p:spPr>
            <a:xfrm>
              <a:off x="5653031" y="5320282"/>
              <a:ext cx="517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70</a:t>
              </a:r>
              <a:endParaRPr/>
            </a:p>
          </p:txBody>
        </p:sp>
        <p:sp>
          <p:nvSpPr>
            <p:cNvPr id="565" name="Google Shape;565;p34"/>
            <p:cNvSpPr txBox="1"/>
            <p:nvPr/>
          </p:nvSpPr>
          <p:spPr>
            <a:xfrm>
              <a:off x="6024808" y="5312732"/>
              <a:ext cx="465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90</a:t>
              </a:r>
              <a:endParaRPr/>
            </a:p>
          </p:txBody>
        </p:sp>
        <p:sp>
          <p:nvSpPr>
            <p:cNvPr id="566" name="Google Shape;566;p34"/>
            <p:cNvSpPr txBox="1"/>
            <p:nvPr/>
          </p:nvSpPr>
          <p:spPr>
            <a:xfrm>
              <a:off x="6180637" y="2629807"/>
              <a:ext cx="3145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4"/>
            <p:cNvSpPr txBox="1"/>
            <p:nvPr/>
          </p:nvSpPr>
          <p:spPr>
            <a:xfrm>
              <a:off x="4603171" y="2427890"/>
              <a:ext cx="317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4"/>
            <p:cNvSpPr txBox="1"/>
            <p:nvPr/>
          </p:nvSpPr>
          <p:spPr>
            <a:xfrm>
              <a:off x="6761563" y="5261658"/>
              <a:ext cx="620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34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4"/>
          <p:cNvSpPr txBox="1"/>
          <p:nvPr/>
        </p:nvSpPr>
        <p:spPr>
          <a:xfrm>
            <a:off x="397349" y="2192901"/>
            <a:ext cx="48686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Что будет происходить при высокой цене?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1F419-E9E3-37FB-162B-AED3B84C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223"/>
            <a:ext cx="10515600" cy="47897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ПРЕДЛОЖЕНИЯ И ФУНКЦИИ ПРЕДЛОЖЕНИЯ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E02B42-DDAB-E9DB-B94E-69EBABF94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/>
          </a:bodyPr>
          <a:lstStyle/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fs.znanio.ru</a:t>
            </a:r>
            <a:r>
              <a:rPr lang="e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/d5af0e/be/</a:t>
            </a:r>
            <a:r>
              <a:rPr lang="e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</a:t>
            </a:r>
            <a:r>
              <a:rPr lang="e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/18991aaaa1ce8cdd662a9f060a7f911052.jpg</a:t>
            </a: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B8F2CD-1D48-F93B-5BAF-ABCB8EFC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4114"/>
            <a:ext cx="5042945" cy="37390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158801-B04F-00FA-E9D5-17E0AF09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914" y="1894114"/>
            <a:ext cx="4963886" cy="37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79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9"/>
          <p:cNvSpPr txBox="1">
            <a:spLocks noGrp="1"/>
          </p:cNvSpPr>
          <p:nvPr>
            <p:ph type="title"/>
          </p:nvPr>
        </p:nvSpPr>
        <p:spPr>
          <a:xfrm>
            <a:off x="453821" y="503315"/>
            <a:ext cx="8229600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Предложение</a:t>
            </a:r>
            <a:endParaRPr/>
          </a:p>
        </p:txBody>
      </p:sp>
      <p:grpSp>
        <p:nvGrpSpPr>
          <p:cNvPr id="623" name="Google Shape;623;p39"/>
          <p:cNvGrpSpPr/>
          <p:nvPr/>
        </p:nvGrpSpPr>
        <p:grpSpPr>
          <a:xfrm>
            <a:off x="-944084" y="-2018147"/>
            <a:ext cx="7833773" cy="8577953"/>
            <a:chOff x="-980778" y="-1972663"/>
            <a:chExt cx="7833773" cy="8577953"/>
          </a:xfrm>
        </p:grpSpPr>
        <p:sp>
          <p:nvSpPr>
            <p:cNvPr id="624" name="Google Shape;624;p39"/>
            <p:cNvSpPr txBox="1"/>
            <p:nvPr/>
          </p:nvSpPr>
          <p:spPr>
            <a:xfrm>
              <a:off x="1161018" y="6053797"/>
              <a:ext cx="5691977" cy="551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Изменение величины предложения</a:t>
              </a:r>
              <a:endParaRPr/>
            </a:p>
          </p:txBody>
        </p:sp>
        <p:grpSp>
          <p:nvGrpSpPr>
            <p:cNvPr id="625" name="Google Shape;625;p39"/>
            <p:cNvGrpSpPr/>
            <p:nvPr/>
          </p:nvGrpSpPr>
          <p:grpSpPr>
            <a:xfrm>
              <a:off x="-980778" y="-1972663"/>
              <a:ext cx="7076778" cy="8045714"/>
              <a:chOff x="-1491891" y="-2057331"/>
              <a:chExt cx="7076778" cy="8045714"/>
            </a:xfrm>
          </p:grpSpPr>
          <p:grpSp>
            <p:nvGrpSpPr>
              <p:cNvPr id="626" name="Google Shape;626;p39"/>
              <p:cNvGrpSpPr/>
              <p:nvPr/>
            </p:nvGrpSpPr>
            <p:grpSpPr>
              <a:xfrm>
                <a:off x="448242" y="1316122"/>
                <a:ext cx="5136645" cy="4672261"/>
                <a:chOff x="448242" y="1316122"/>
                <a:chExt cx="5136645" cy="4672261"/>
              </a:xfrm>
            </p:grpSpPr>
            <p:cxnSp>
              <p:nvCxnSpPr>
                <p:cNvPr id="627" name="Google Shape;627;p39"/>
                <p:cNvCxnSpPr/>
                <p:nvPr/>
              </p:nvCxnSpPr>
              <p:spPr>
                <a:xfrm rot="10800000">
                  <a:off x="961697" y="1635827"/>
                  <a:ext cx="0" cy="3834807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628" name="Google Shape;628;p39"/>
                <p:cNvCxnSpPr/>
                <p:nvPr/>
              </p:nvCxnSpPr>
              <p:spPr>
                <a:xfrm>
                  <a:off x="961697" y="5486400"/>
                  <a:ext cx="428822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  <p:sp>
              <p:nvSpPr>
                <p:cNvPr id="629" name="Google Shape;629;p39"/>
                <p:cNvSpPr txBox="1"/>
                <p:nvPr/>
              </p:nvSpPr>
              <p:spPr>
                <a:xfrm>
                  <a:off x="4200580" y="1316122"/>
                  <a:ext cx="67417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39"/>
                <p:cNvSpPr txBox="1"/>
                <p:nvPr/>
              </p:nvSpPr>
              <p:spPr>
                <a:xfrm>
                  <a:off x="4910713" y="5619051"/>
                  <a:ext cx="67417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Q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39"/>
                <p:cNvSpPr txBox="1"/>
                <p:nvPr/>
              </p:nvSpPr>
              <p:spPr>
                <a:xfrm>
                  <a:off x="448242" y="1646246"/>
                  <a:ext cx="67417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2" name="Google Shape;632;p39"/>
              <p:cNvSpPr/>
              <p:nvPr/>
            </p:nvSpPr>
            <p:spPr>
              <a:xfrm rot="5555540">
                <a:off x="-1982688" y="-1300655"/>
                <a:ext cx="6653048" cy="5376042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38100" cap="flat" cmpd="sng">
                <a:solidFill>
                  <a:srgbClr val="0F476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33" name="Google Shape;633;p39"/>
              <p:cNvCxnSpPr/>
              <p:nvPr/>
            </p:nvCxnSpPr>
            <p:spPr>
              <a:xfrm rot="10800000" flipH="1">
                <a:off x="2865510" y="3102607"/>
                <a:ext cx="630384" cy="73355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75317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634" name="Google Shape;634;p39"/>
              <p:cNvCxnSpPr/>
              <p:nvPr/>
            </p:nvCxnSpPr>
            <p:spPr>
              <a:xfrm>
                <a:off x="3705165" y="3044435"/>
                <a:ext cx="0" cy="2426199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A5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635" name="Google Shape;635;p39"/>
              <p:cNvCxnSpPr/>
              <p:nvPr/>
            </p:nvCxnSpPr>
            <p:spPr>
              <a:xfrm flipH="1">
                <a:off x="2918950" y="4123722"/>
                <a:ext cx="7516" cy="134691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A5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636" name="Google Shape;636;p39"/>
              <p:cNvCxnSpPr/>
              <p:nvPr/>
            </p:nvCxnSpPr>
            <p:spPr>
              <a:xfrm rot="10800000">
                <a:off x="983549" y="4026568"/>
                <a:ext cx="1839793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A5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637" name="Google Shape;637;p39"/>
              <p:cNvCxnSpPr/>
              <p:nvPr/>
            </p:nvCxnSpPr>
            <p:spPr>
              <a:xfrm rot="10800000">
                <a:off x="1112797" y="3102607"/>
                <a:ext cx="0" cy="835643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75317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638" name="Google Shape;638;p39"/>
              <p:cNvCxnSpPr/>
              <p:nvPr/>
            </p:nvCxnSpPr>
            <p:spPr>
              <a:xfrm>
                <a:off x="2918950" y="5620706"/>
                <a:ext cx="786215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75317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</p:grpSp>
        <p:cxnSp>
          <p:nvCxnSpPr>
            <p:cNvPr id="639" name="Google Shape;639;p39"/>
            <p:cNvCxnSpPr/>
            <p:nvPr/>
          </p:nvCxnSpPr>
          <p:spPr>
            <a:xfrm rot="10800000">
              <a:off x="1434381" y="3129103"/>
              <a:ext cx="2781897" cy="0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640" name="Google Shape;640;p39"/>
          <p:cNvGrpSpPr/>
          <p:nvPr/>
        </p:nvGrpSpPr>
        <p:grpSpPr>
          <a:xfrm>
            <a:off x="4101837" y="-2090837"/>
            <a:ext cx="7118256" cy="8650643"/>
            <a:chOff x="4285495" y="-2058242"/>
            <a:chExt cx="7118256" cy="8650643"/>
          </a:xfrm>
        </p:grpSpPr>
        <p:sp>
          <p:nvSpPr>
            <p:cNvPr id="641" name="Google Shape;641;p39"/>
            <p:cNvSpPr txBox="1"/>
            <p:nvPr/>
          </p:nvSpPr>
          <p:spPr>
            <a:xfrm>
              <a:off x="7055384" y="6040908"/>
              <a:ext cx="4122278" cy="551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Изменение предложения</a:t>
              </a:r>
              <a:endParaRPr/>
            </a:p>
          </p:txBody>
        </p:sp>
        <p:grpSp>
          <p:nvGrpSpPr>
            <p:cNvPr id="642" name="Google Shape;642;p39"/>
            <p:cNvGrpSpPr/>
            <p:nvPr/>
          </p:nvGrpSpPr>
          <p:grpSpPr>
            <a:xfrm>
              <a:off x="4285495" y="-2058242"/>
              <a:ext cx="7118256" cy="8045714"/>
              <a:chOff x="-1491891" y="-2057331"/>
              <a:chExt cx="7118256" cy="8045714"/>
            </a:xfrm>
          </p:grpSpPr>
          <p:grpSp>
            <p:nvGrpSpPr>
              <p:cNvPr id="643" name="Google Shape;643;p39"/>
              <p:cNvGrpSpPr/>
              <p:nvPr/>
            </p:nvGrpSpPr>
            <p:grpSpPr>
              <a:xfrm>
                <a:off x="448242" y="1363694"/>
                <a:ext cx="5136645" cy="4624689"/>
                <a:chOff x="448242" y="1363694"/>
                <a:chExt cx="5136645" cy="4624689"/>
              </a:xfrm>
            </p:grpSpPr>
            <p:cxnSp>
              <p:nvCxnSpPr>
                <p:cNvPr id="644" name="Google Shape;644;p39"/>
                <p:cNvCxnSpPr/>
                <p:nvPr/>
              </p:nvCxnSpPr>
              <p:spPr>
                <a:xfrm rot="10800000">
                  <a:off x="961697" y="1635827"/>
                  <a:ext cx="0" cy="3834807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645" name="Google Shape;645;p39"/>
                <p:cNvCxnSpPr/>
                <p:nvPr/>
              </p:nvCxnSpPr>
              <p:spPr>
                <a:xfrm>
                  <a:off x="961697" y="5486400"/>
                  <a:ext cx="428822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miter lim="8000"/>
                  <a:headEnd type="none" w="sm" len="sm"/>
                  <a:tailEnd type="triangle" w="med" len="med"/>
                </a:ln>
              </p:spPr>
            </p:cxnSp>
            <p:sp>
              <p:nvSpPr>
                <p:cNvPr id="646" name="Google Shape;646;p39"/>
                <p:cNvSpPr txBox="1"/>
                <p:nvPr/>
              </p:nvSpPr>
              <p:spPr>
                <a:xfrm>
                  <a:off x="4095967" y="1363694"/>
                  <a:ext cx="67417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7" name="Google Shape;647;p39"/>
                <p:cNvSpPr txBox="1"/>
                <p:nvPr/>
              </p:nvSpPr>
              <p:spPr>
                <a:xfrm>
                  <a:off x="4910713" y="5619051"/>
                  <a:ext cx="67417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Q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" name="Google Shape;648;p39"/>
                <p:cNvSpPr txBox="1"/>
                <p:nvPr/>
              </p:nvSpPr>
              <p:spPr>
                <a:xfrm>
                  <a:off x="448242" y="1646246"/>
                  <a:ext cx="67417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9" name="Google Shape;649;p39"/>
              <p:cNvSpPr/>
              <p:nvPr/>
            </p:nvSpPr>
            <p:spPr>
              <a:xfrm rot="5555540">
                <a:off x="-1982688" y="-1300655"/>
                <a:ext cx="6653048" cy="5376042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38100" cap="flat" cmpd="sng">
                <a:solidFill>
                  <a:srgbClr val="0F476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39"/>
              <p:cNvSpPr txBox="1"/>
              <p:nvPr/>
            </p:nvSpPr>
            <p:spPr>
              <a:xfrm>
                <a:off x="4952191" y="1421374"/>
                <a:ext cx="6741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  <p:cxnSp>
            <p:nvCxnSpPr>
              <p:cNvPr id="651" name="Google Shape;651;p39"/>
              <p:cNvCxnSpPr/>
              <p:nvPr/>
            </p:nvCxnSpPr>
            <p:spPr>
              <a:xfrm>
                <a:off x="3339137" y="3614364"/>
                <a:ext cx="909642" cy="244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75317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652" name="Google Shape;652;p39"/>
              <p:cNvCxnSpPr/>
              <p:nvPr/>
            </p:nvCxnSpPr>
            <p:spPr>
              <a:xfrm rot="10800000">
                <a:off x="961697" y="4112147"/>
                <a:ext cx="1839793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A5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653" name="Google Shape;653;p39"/>
              <p:cNvCxnSpPr/>
              <p:nvPr/>
            </p:nvCxnSpPr>
            <p:spPr>
              <a:xfrm>
                <a:off x="3737348" y="2936800"/>
                <a:ext cx="717239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75317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654" name="Google Shape;654;p39"/>
              <p:cNvCxnSpPr/>
              <p:nvPr/>
            </p:nvCxnSpPr>
            <p:spPr>
              <a:xfrm>
                <a:off x="2909414" y="4207229"/>
                <a:ext cx="786215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275317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</p:grpSp>
        <p:sp>
          <p:nvSpPr>
            <p:cNvPr id="655" name="Google Shape;655;p39"/>
            <p:cNvSpPr/>
            <p:nvPr/>
          </p:nvSpPr>
          <p:spPr>
            <a:xfrm rot="5555540">
              <a:off x="4556939" y="-982280"/>
              <a:ext cx="6653048" cy="5376042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38100" cap="flat" cmpd="sng">
              <a:solidFill>
                <a:srgbClr val="0F4761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6" name="Google Shape;656;p39"/>
            <p:cNvCxnSpPr/>
            <p:nvPr/>
          </p:nvCxnSpPr>
          <p:spPr>
            <a:xfrm rot="10800000">
              <a:off x="6739082" y="3552319"/>
              <a:ext cx="2340825" cy="0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657" name="Google Shape;657;p39"/>
            <p:cNvCxnSpPr/>
            <p:nvPr/>
          </p:nvCxnSpPr>
          <p:spPr>
            <a:xfrm rot="10800000">
              <a:off x="6713050" y="2932208"/>
              <a:ext cx="2759965" cy="0"/>
            </a:xfrm>
            <a:prstGeom prst="straightConnector1">
              <a:avLst/>
            </a:prstGeom>
            <a:noFill/>
            <a:ln w="19050" cap="flat" cmpd="sng">
              <a:solidFill>
                <a:srgbClr val="A5A5A5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658" name="Google Shape;658;p39"/>
            <p:cNvSpPr txBox="1"/>
            <p:nvPr/>
          </p:nvSpPr>
          <p:spPr>
            <a:xfrm>
              <a:off x="6279756" y="3946208"/>
              <a:ext cx="6741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9"/>
            <p:cNvSpPr txBox="1"/>
            <p:nvPr/>
          </p:nvSpPr>
          <p:spPr>
            <a:xfrm>
              <a:off x="6256631" y="3369566"/>
              <a:ext cx="6741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9"/>
            <p:cNvSpPr txBox="1"/>
            <p:nvPr/>
          </p:nvSpPr>
          <p:spPr>
            <a:xfrm>
              <a:off x="6256631" y="2775099"/>
              <a:ext cx="6741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39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9"/>
          <p:cNvSpPr txBox="1"/>
          <p:nvPr/>
        </p:nvSpPr>
        <p:spPr>
          <a:xfrm>
            <a:off x="1705373" y="1462178"/>
            <a:ext cx="20377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Меняется от цены</a:t>
            </a:r>
            <a:endParaRPr/>
          </a:p>
        </p:txBody>
      </p:sp>
      <p:sp>
        <p:nvSpPr>
          <p:cNvPr id="663" name="Google Shape;663;p39"/>
          <p:cNvSpPr txBox="1"/>
          <p:nvPr/>
        </p:nvSpPr>
        <p:spPr>
          <a:xfrm>
            <a:off x="6968776" y="1332416"/>
            <a:ext cx="23397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Меняется от любого фактора, кроме цены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5"/>
          <p:cNvSpPr txBox="1">
            <a:spLocks noGrp="1"/>
          </p:cNvSpPr>
          <p:nvPr>
            <p:ph type="title"/>
          </p:nvPr>
        </p:nvSpPr>
        <p:spPr>
          <a:xfrm>
            <a:off x="398600" y="3115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b="1" dirty="0"/>
              <a:t>Факторы, меняющие предложение</a:t>
            </a:r>
            <a:endParaRPr dirty="0"/>
          </a:p>
        </p:txBody>
      </p:sp>
      <p:sp>
        <p:nvSpPr>
          <p:cNvPr id="577" name="Google Shape;577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2800" b="1"/>
              <a:t>Ценовые: </a:t>
            </a:r>
            <a:r>
              <a:rPr lang="ru-RU" sz="2800"/>
              <a:t>цена предлагаемого экономического блага оказывает влияние на величину предложения. Визуализируется в движении по кривой.</a:t>
            </a:r>
            <a:endParaRPr/>
          </a:p>
          <a:p>
            <a:pPr marL="457200" lvl="0" indent="-3429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b="1"/>
              <a:t>Н</a:t>
            </a:r>
            <a:r>
              <a:rPr lang="ru-RU" sz="2800" b="1"/>
              <a:t>еценовые: </a:t>
            </a:r>
            <a:r>
              <a:rPr lang="ru-RU" sz="2800"/>
              <a:t>цены на сопоставимые товары, цены на эк. </a:t>
            </a:r>
            <a:r>
              <a:rPr lang="ru-RU"/>
              <a:t>р</a:t>
            </a:r>
            <a:r>
              <a:rPr lang="ru-RU" sz="2800"/>
              <a:t>есурсы, природно-климатические условия, характер применяемой технологии, экономические ожидания производителя, налоги и субсидии, кол-во производителей на рынке.</a:t>
            </a:r>
            <a:endParaRPr/>
          </a:p>
        </p:txBody>
      </p:sp>
      <p:sp>
        <p:nvSpPr>
          <p:cNvPr id="578" name="Google Shape;578;p35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6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6"/>
          <p:cNvSpPr txBox="1"/>
          <p:nvPr/>
        </p:nvSpPr>
        <p:spPr>
          <a:xfrm>
            <a:off x="447176" y="506550"/>
            <a:ext cx="1257794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sz="4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Факторы, влияющие на предложение </a:t>
            </a:r>
            <a:endParaRPr sz="4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85" name="Google Shape;585;p36"/>
          <p:cNvSpPr txBox="1"/>
          <p:nvPr/>
        </p:nvSpPr>
        <p:spPr>
          <a:xfrm>
            <a:off x="447176" y="1430649"/>
            <a:ext cx="10891384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Цены на ресурсы.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Если сырье или труд дорожают, производить товар становится менее выгодно, и предложение падает.</a:t>
            </a:r>
            <a:endParaRPr/>
          </a:p>
        </p:txBody>
      </p:sp>
      <p:grpSp>
        <p:nvGrpSpPr>
          <p:cNvPr id="586" name="Google Shape;586;p36"/>
          <p:cNvGrpSpPr/>
          <p:nvPr/>
        </p:nvGrpSpPr>
        <p:grpSpPr>
          <a:xfrm>
            <a:off x="1080972" y="3216563"/>
            <a:ext cx="10428855" cy="2794000"/>
            <a:chOff x="447176" y="3216563"/>
            <a:chExt cx="10428855" cy="2794000"/>
          </a:xfrm>
        </p:grpSpPr>
        <p:pic>
          <p:nvPicPr>
            <p:cNvPr id="587" name="Google Shape;587;p36" descr="Хлеб PNG на прозрачном фоне Иллюстрация штока - Illustration of обои,  заедк: 3816906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7176" y="3216563"/>
              <a:ext cx="2794000" cy="279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36" descr="пшеница на прозрачном фоне 27 фото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04434" y="3439886"/>
              <a:ext cx="3116331" cy="22059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" name="Google Shape;589;p36"/>
            <p:cNvSpPr txBox="1"/>
            <p:nvPr/>
          </p:nvSpPr>
          <p:spPr>
            <a:xfrm>
              <a:off x="7759700" y="3757452"/>
              <a:ext cx="3116331" cy="1631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 i="1" dirty="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Производители хлеба сокращают объемы, так как, чтобы испечь буханку, нужно потратить больше.</a:t>
              </a:r>
              <a:endParaRPr dirty="0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7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7"/>
          <p:cNvSpPr txBox="1"/>
          <p:nvPr/>
        </p:nvSpPr>
        <p:spPr>
          <a:xfrm>
            <a:off x="447176" y="506550"/>
            <a:ext cx="1257794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sz="4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Факторы, влияющие на предложение </a:t>
            </a:r>
            <a:endParaRPr sz="4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96" name="Google Shape;596;p37"/>
          <p:cNvSpPr txBox="1"/>
          <p:nvPr/>
        </p:nvSpPr>
        <p:spPr>
          <a:xfrm>
            <a:off x="447176" y="1452156"/>
            <a:ext cx="11257144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Тех. прогресс.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Новые технологии позволяют производить больше товаров при тех же затратах или снижают стоимость производства.</a:t>
            </a:r>
            <a:endParaRPr/>
          </a:p>
        </p:txBody>
      </p:sp>
      <p:grpSp>
        <p:nvGrpSpPr>
          <p:cNvPr id="597" name="Google Shape;597;p37"/>
          <p:cNvGrpSpPr/>
          <p:nvPr/>
        </p:nvGrpSpPr>
        <p:grpSpPr>
          <a:xfrm>
            <a:off x="833256" y="3259577"/>
            <a:ext cx="10501234" cy="3100080"/>
            <a:chOff x="833256" y="3259577"/>
            <a:chExt cx="10501234" cy="3100080"/>
          </a:xfrm>
        </p:grpSpPr>
        <p:pic>
          <p:nvPicPr>
            <p:cNvPr id="598" name="Google Shape;598;p37" descr="Микросхема без фона png изображения — Бесплатная загрузка на Magnific  (ранее Freepik)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833256" y="3259577"/>
              <a:ext cx="3100080" cy="310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9" name="Google Shape;599;p37" descr="робот на прозрачном фоне 24 фото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56498" y="3697552"/>
              <a:ext cx="3238500" cy="2159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37"/>
            <p:cNvSpPr txBox="1"/>
            <p:nvPr/>
          </p:nvSpPr>
          <p:spPr>
            <a:xfrm>
              <a:off x="8218159" y="4077514"/>
              <a:ext cx="3116331" cy="1323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 i="1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Производители готовы производить больше и предложение увеличилось.</a:t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8"/>
          <p:cNvSpPr txBox="1"/>
          <p:nvPr/>
        </p:nvSpPr>
        <p:spPr>
          <a:xfrm>
            <a:off x="447176" y="506550"/>
            <a:ext cx="1257794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sz="4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Факторы, влияющие на предложение </a:t>
            </a:r>
            <a:endParaRPr sz="4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07" name="Google Shape;607;p38"/>
          <p:cNvSpPr txBox="1"/>
          <p:nvPr/>
        </p:nvSpPr>
        <p:spPr>
          <a:xfrm>
            <a:off x="447176" y="1448415"/>
            <a:ext cx="10850744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Кол-во производителей.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Чем больше игроков на рынке, тем больше совокупный объем товара, доступный покупателям.</a:t>
            </a:r>
            <a:endParaRPr/>
          </a:p>
        </p:txBody>
      </p:sp>
      <p:grpSp>
        <p:nvGrpSpPr>
          <p:cNvPr id="608" name="Google Shape;608;p38"/>
          <p:cNvGrpSpPr/>
          <p:nvPr/>
        </p:nvGrpSpPr>
        <p:grpSpPr>
          <a:xfrm>
            <a:off x="863290" y="3117731"/>
            <a:ext cx="10465419" cy="3326310"/>
            <a:chOff x="1027431" y="3326250"/>
            <a:chExt cx="10465419" cy="3326310"/>
          </a:xfrm>
        </p:grpSpPr>
        <p:pic>
          <p:nvPicPr>
            <p:cNvPr id="609" name="Google Shape;609;p38" descr="Чашка кофе - в png (пнг) без фона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27431" y="3778370"/>
              <a:ext cx="2788052" cy="2204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0" name="Google Shape;610;p38" descr="Чашка кофе - в png (пнг) без фона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01974" y="3326250"/>
              <a:ext cx="1394026" cy="110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38" descr="Чашка кофе - в png (пнг) без фона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42614" y="4428610"/>
              <a:ext cx="1394026" cy="110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38" descr="Чашка кофе - в png (пнг) без фона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77280" y="3326250"/>
              <a:ext cx="1394026" cy="110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3" name="Google Shape;613;p38" descr="Чашка кофе - в png (пнг) без фона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17920" y="4428610"/>
              <a:ext cx="1394026" cy="110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38" descr="Чашка кофе - в png (пнг) без фона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01974" y="5550200"/>
              <a:ext cx="1394026" cy="110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38" descr="Чашка кофе - в png (пнг) без фона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77280" y="5550200"/>
              <a:ext cx="1394026" cy="1102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38"/>
            <p:cNvSpPr txBox="1"/>
            <p:nvPr/>
          </p:nvSpPr>
          <p:spPr>
            <a:xfrm>
              <a:off x="8376519" y="3911234"/>
              <a:ext cx="3116331" cy="1938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 i="1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Каждая новая точка увеличивает общее количество чашек кофе, которые можно купить в этом районе.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"/>
          <p:cNvSpPr txBox="1">
            <a:spLocks noGrp="1"/>
          </p:cNvSpPr>
          <p:nvPr>
            <p:ph type="title"/>
          </p:nvPr>
        </p:nvSpPr>
        <p:spPr>
          <a:xfrm>
            <a:off x="452570" y="472850"/>
            <a:ext cx="10409992" cy="367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lang="ru-RU" sz="4600" b="1" dirty="0"/>
            </a:br>
            <a:r>
              <a:rPr lang="ru-RU" sz="3600" b="1" dirty="0"/>
              <a:t>Рыночное равновесие (крест  Маршалла)</a:t>
            </a:r>
            <a:endParaRPr sz="3600" dirty="0"/>
          </a:p>
        </p:txBody>
      </p:sp>
      <p:grpSp>
        <p:nvGrpSpPr>
          <p:cNvPr id="670" name="Google Shape;670;p40"/>
          <p:cNvGrpSpPr/>
          <p:nvPr/>
        </p:nvGrpSpPr>
        <p:grpSpPr>
          <a:xfrm>
            <a:off x="1445645" y="-1623996"/>
            <a:ext cx="9537016" cy="7999777"/>
            <a:chOff x="7971860" y="-1464943"/>
            <a:chExt cx="9537016" cy="7999777"/>
          </a:xfrm>
        </p:grpSpPr>
        <p:grpSp>
          <p:nvGrpSpPr>
            <p:cNvPr id="671" name="Google Shape;671;p40"/>
            <p:cNvGrpSpPr/>
            <p:nvPr/>
          </p:nvGrpSpPr>
          <p:grpSpPr>
            <a:xfrm>
              <a:off x="7971860" y="-1464943"/>
              <a:ext cx="9537016" cy="7999777"/>
              <a:chOff x="504187" y="-1710705"/>
              <a:chExt cx="9537016" cy="7999777"/>
            </a:xfrm>
          </p:grpSpPr>
          <p:sp>
            <p:nvSpPr>
              <p:cNvPr id="672" name="Google Shape;672;p40"/>
              <p:cNvSpPr/>
              <p:nvPr/>
            </p:nvSpPr>
            <p:spPr>
              <a:xfrm rot="10271951">
                <a:off x="3565776" y="-1284093"/>
                <a:ext cx="6045200" cy="6089078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38100" cap="flat" cmpd="sng">
                <a:solidFill>
                  <a:srgbClr val="C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40"/>
              <p:cNvSpPr/>
              <p:nvPr/>
            </p:nvSpPr>
            <p:spPr>
              <a:xfrm rot="5628361">
                <a:off x="720047" y="-1132102"/>
                <a:ext cx="6045200" cy="6089078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4" name="Google Shape;674;p40"/>
              <p:cNvGrpSpPr/>
              <p:nvPr/>
            </p:nvGrpSpPr>
            <p:grpSpPr>
              <a:xfrm>
                <a:off x="2200595" y="1249718"/>
                <a:ext cx="6427387" cy="5039354"/>
                <a:chOff x="2259638" y="1249718"/>
                <a:chExt cx="6427387" cy="5039354"/>
              </a:xfrm>
            </p:grpSpPr>
            <p:grpSp>
              <p:nvGrpSpPr>
                <p:cNvPr id="675" name="Google Shape;675;p40"/>
                <p:cNvGrpSpPr/>
                <p:nvPr/>
              </p:nvGrpSpPr>
              <p:grpSpPr>
                <a:xfrm>
                  <a:off x="2259638" y="1249718"/>
                  <a:ext cx="6427387" cy="5039354"/>
                  <a:chOff x="4323098" y="2383516"/>
                  <a:chExt cx="2948706" cy="3145843"/>
                </a:xfrm>
              </p:grpSpPr>
              <p:cxnSp>
                <p:nvCxnSpPr>
                  <p:cNvPr id="676" name="Google Shape;676;p40"/>
                  <p:cNvCxnSpPr/>
                  <p:nvPr/>
                </p:nvCxnSpPr>
                <p:spPr>
                  <a:xfrm rot="10800000">
                    <a:off x="4572000" y="2503419"/>
                    <a:ext cx="0" cy="2746498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677" name="Google Shape;677;p40"/>
                  <p:cNvCxnSpPr/>
                  <p:nvPr/>
                </p:nvCxnSpPr>
                <p:spPr>
                  <a:xfrm>
                    <a:off x="4582510" y="5249917"/>
                    <a:ext cx="2543504" cy="0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78" name="Google Shape;678;p40"/>
                  <p:cNvSpPr txBox="1"/>
                  <p:nvPr/>
                </p:nvSpPr>
                <p:spPr>
                  <a:xfrm>
                    <a:off x="4757689" y="2844907"/>
                    <a:ext cx="161203" cy="230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 b="1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sz="1800" b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9" name="Google Shape;679;p40"/>
                  <p:cNvSpPr txBox="1"/>
                  <p:nvPr/>
                </p:nvSpPr>
                <p:spPr>
                  <a:xfrm rot="-5400000">
                    <a:off x="4173557" y="2533057"/>
                    <a:ext cx="468520" cy="16943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 b="1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Цена</a:t>
                    </a:r>
                    <a:endParaRPr/>
                  </a:p>
                </p:txBody>
              </p:sp>
              <p:sp>
                <p:nvSpPr>
                  <p:cNvPr id="680" name="Google Shape;680;p40"/>
                  <p:cNvSpPr txBox="1"/>
                  <p:nvPr/>
                </p:nvSpPr>
                <p:spPr>
                  <a:xfrm>
                    <a:off x="6177450" y="5298802"/>
                    <a:ext cx="1094353" cy="230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800" b="1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Количество товара</a:t>
                    </a:r>
                    <a:endParaRPr/>
                  </a:p>
                </p:txBody>
              </p:sp>
            </p:grpSp>
            <p:sp>
              <p:nvSpPr>
                <p:cNvPr id="681" name="Google Shape;681;p40"/>
                <p:cNvSpPr txBox="1"/>
                <p:nvPr/>
              </p:nvSpPr>
              <p:spPr>
                <a:xfrm>
                  <a:off x="6072039" y="4207471"/>
                  <a:ext cx="122463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 b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Дефицит</a:t>
                  </a:r>
                  <a:endParaRPr/>
                </a:p>
              </p:txBody>
            </p:sp>
            <p:cxnSp>
              <p:nvCxnSpPr>
                <p:cNvPr id="682" name="Google Shape;682;p40"/>
                <p:cNvCxnSpPr/>
                <p:nvPr/>
              </p:nvCxnSpPr>
              <p:spPr>
                <a:xfrm rot="10800000">
                  <a:off x="2825088" y="2873766"/>
                  <a:ext cx="927424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dash"/>
                  <a:miter lim="8000"/>
                  <a:headEnd type="none" w="sm" len="sm"/>
                  <a:tailEnd type="none" w="sm" len="sm"/>
                </a:ln>
              </p:spPr>
            </p:cxnSp>
            <p:cxnSp>
              <p:nvCxnSpPr>
                <p:cNvPr id="683" name="Google Shape;683;p40"/>
                <p:cNvCxnSpPr/>
                <p:nvPr/>
              </p:nvCxnSpPr>
              <p:spPr>
                <a:xfrm rot="10800000">
                  <a:off x="2825088" y="4817305"/>
                  <a:ext cx="1905055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F7F7F"/>
                  </a:solidFill>
                  <a:prstDash val="dash"/>
                  <a:miter lim="8000"/>
                  <a:headEnd type="none" w="sm" len="sm"/>
                  <a:tailEnd type="none" w="sm" len="sm"/>
                </a:ln>
              </p:spPr>
            </p:cxnSp>
            <p:sp>
              <p:nvSpPr>
                <p:cNvPr id="684" name="Google Shape;684;p40"/>
                <p:cNvSpPr txBox="1"/>
                <p:nvPr/>
              </p:nvSpPr>
              <p:spPr>
                <a:xfrm>
                  <a:off x="6829857" y="1893543"/>
                  <a:ext cx="33855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800" b="1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</a:t>
                  </a:r>
                  <a:endParaRPr sz="18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85" name="Google Shape;685;p40"/>
            <p:cNvGrpSpPr/>
            <p:nvPr/>
          </p:nvGrpSpPr>
          <p:grpSpPr>
            <a:xfrm>
              <a:off x="9990667" y="2139305"/>
              <a:ext cx="4121081" cy="3959954"/>
              <a:chOff x="9990667" y="2139305"/>
              <a:chExt cx="4121081" cy="3959954"/>
            </a:xfrm>
          </p:grpSpPr>
          <p:sp>
            <p:nvSpPr>
              <p:cNvPr id="686" name="Google Shape;686;p40"/>
              <p:cNvSpPr txBox="1"/>
              <p:nvPr/>
            </p:nvSpPr>
            <p:spPr>
              <a:xfrm>
                <a:off x="11738244" y="3554722"/>
                <a:ext cx="197201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Равновесная цена</a:t>
                </a:r>
                <a:endParaRPr/>
              </a:p>
            </p:txBody>
          </p:sp>
          <p:cxnSp>
            <p:nvCxnSpPr>
              <p:cNvPr id="687" name="Google Shape;687;p40"/>
              <p:cNvCxnSpPr/>
              <p:nvPr/>
            </p:nvCxnSpPr>
            <p:spPr>
              <a:xfrm>
                <a:off x="12764207" y="3926556"/>
                <a:ext cx="0" cy="790414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688" name="Google Shape;688;p40"/>
              <p:cNvCxnSpPr/>
              <p:nvPr/>
            </p:nvCxnSpPr>
            <p:spPr>
              <a:xfrm>
                <a:off x="12138773" y="5063067"/>
                <a:ext cx="1571486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7F7F7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689" name="Google Shape;689;p40"/>
              <p:cNvCxnSpPr/>
              <p:nvPr/>
            </p:nvCxnSpPr>
            <p:spPr>
              <a:xfrm>
                <a:off x="11210320" y="3119528"/>
                <a:ext cx="2901428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7F7F7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690" name="Google Shape;690;p40"/>
              <p:cNvCxnSpPr/>
              <p:nvPr/>
            </p:nvCxnSpPr>
            <p:spPr>
              <a:xfrm>
                <a:off x="11210320" y="3119528"/>
                <a:ext cx="0" cy="2967665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00000"/>
                </a:solidFill>
                <a:prstDash val="dash"/>
                <a:miter lim="8000"/>
                <a:headEnd type="none" w="sm" len="sm"/>
                <a:tailEnd type="stealth" w="med" len="med"/>
              </a:ln>
            </p:spPr>
          </p:cxnSp>
          <p:sp>
            <p:nvSpPr>
              <p:cNvPr id="691" name="Google Shape;691;p40"/>
              <p:cNvSpPr txBox="1"/>
              <p:nvPr/>
            </p:nvSpPr>
            <p:spPr>
              <a:xfrm>
                <a:off x="11425439" y="2139305"/>
                <a:ext cx="2471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8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Избыток продукции</a:t>
                </a:r>
                <a:endParaRPr/>
              </a:p>
            </p:txBody>
          </p:sp>
          <p:cxnSp>
            <p:nvCxnSpPr>
              <p:cNvPr id="692" name="Google Shape;692;p40"/>
              <p:cNvCxnSpPr/>
              <p:nvPr/>
            </p:nvCxnSpPr>
            <p:spPr>
              <a:xfrm>
                <a:off x="13710259" y="5051001"/>
                <a:ext cx="0" cy="103619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00000"/>
                </a:solidFill>
                <a:prstDash val="dash"/>
                <a:miter lim="8000"/>
                <a:headEnd type="none" w="sm" len="sm"/>
                <a:tailEnd type="stealth" w="med" len="med"/>
              </a:ln>
            </p:spPr>
          </p:cxnSp>
          <p:cxnSp>
            <p:nvCxnSpPr>
              <p:cNvPr id="693" name="Google Shape;693;p40"/>
              <p:cNvCxnSpPr/>
              <p:nvPr/>
            </p:nvCxnSpPr>
            <p:spPr>
              <a:xfrm>
                <a:off x="12138773" y="5063067"/>
                <a:ext cx="0" cy="1036192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43C64"/>
                </a:solidFill>
                <a:prstDash val="dash"/>
                <a:miter lim="8000"/>
                <a:headEnd type="none" w="sm" len="sm"/>
                <a:tailEnd type="stealth" w="med" len="med"/>
              </a:ln>
            </p:spPr>
          </p:cxnSp>
          <p:cxnSp>
            <p:nvCxnSpPr>
              <p:cNvPr id="694" name="Google Shape;694;p40"/>
              <p:cNvCxnSpPr/>
              <p:nvPr/>
            </p:nvCxnSpPr>
            <p:spPr>
              <a:xfrm>
                <a:off x="14092388" y="3205903"/>
                <a:ext cx="19360" cy="288129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43C64"/>
                </a:solidFill>
                <a:prstDash val="dash"/>
                <a:miter lim="8000"/>
                <a:headEnd type="none" w="sm" len="sm"/>
                <a:tailEnd type="stealth" w="med" len="med"/>
              </a:ln>
            </p:spPr>
          </p:cxnSp>
          <p:cxnSp>
            <p:nvCxnSpPr>
              <p:cNvPr id="695" name="Google Shape;695;p40"/>
              <p:cNvCxnSpPr/>
              <p:nvPr/>
            </p:nvCxnSpPr>
            <p:spPr>
              <a:xfrm flipH="1">
                <a:off x="12398081" y="2508637"/>
                <a:ext cx="526435" cy="577611"/>
              </a:xfrm>
              <a:prstGeom prst="straightConnector1">
                <a:avLst/>
              </a:prstGeom>
              <a:noFill/>
              <a:ln w="38100" cap="flat" cmpd="sng">
                <a:solidFill>
                  <a:srgbClr val="7F7F7F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696" name="Google Shape;696;p40"/>
              <p:cNvCxnSpPr>
                <a:stCxn id="681" idx="1"/>
              </p:cNvCxnSpPr>
              <p:nvPr/>
            </p:nvCxnSpPr>
            <p:spPr>
              <a:xfrm flipH="1">
                <a:off x="12893269" y="4637899"/>
                <a:ext cx="587400" cy="442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7F7F7F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sp>
            <p:nvSpPr>
              <p:cNvPr id="697" name="Google Shape;697;p40"/>
              <p:cNvSpPr txBox="1"/>
              <p:nvPr/>
            </p:nvSpPr>
            <p:spPr>
              <a:xfrm>
                <a:off x="9990667" y="3742267"/>
                <a:ext cx="1847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98" name="Google Shape;698;p40"/>
          <p:cNvSpPr txBox="1"/>
          <p:nvPr/>
        </p:nvSpPr>
        <p:spPr>
          <a:xfrm>
            <a:off x="3168981" y="4605021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Р1</a:t>
            </a:r>
            <a:endParaRPr/>
          </a:p>
        </p:txBody>
      </p:sp>
      <p:sp>
        <p:nvSpPr>
          <p:cNvPr id="699" name="Google Shape;699;p40"/>
          <p:cNvSpPr txBox="1"/>
          <p:nvPr/>
        </p:nvSpPr>
        <p:spPr>
          <a:xfrm>
            <a:off x="3200095" y="2742529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Р2</a:t>
            </a:r>
            <a:endParaRPr/>
          </a:p>
        </p:txBody>
      </p:sp>
      <p:sp>
        <p:nvSpPr>
          <p:cNvPr id="700" name="Google Shape;700;p4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0"/>
          <p:cNvSpPr txBox="1"/>
          <p:nvPr/>
        </p:nvSpPr>
        <p:spPr>
          <a:xfrm>
            <a:off x="687885" y="4491954"/>
            <a:ext cx="266116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Покупатели готовы купить много, а продавцы готовы продать мало</a:t>
            </a:r>
            <a:endParaRPr/>
          </a:p>
        </p:txBody>
      </p:sp>
      <p:sp>
        <p:nvSpPr>
          <p:cNvPr id="702" name="Google Shape;702;p40"/>
          <p:cNvSpPr txBox="1"/>
          <p:nvPr/>
        </p:nvSpPr>
        <p:spPr>
          <a:xfrm>
            <a:off x="738615" y="2228523"/>
            <a:ext cx="241997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Покупатели хотят купить меньше товара, а продавцы готовы продать много</a:t>
            </a:r>
            <a:endParaRPr/>
          </a:p>
        </p:txBody>
      </p:sp>
      <p:sp>
        <p:nvSpPr>
          <p:cNvPr id="703" name="Google Shape;703;p40"/>
          <p:cNvSpPr txBox="1"/>
          <p:nvPr/>
        </p:nvSpPr>
        <p:spPr>
          <a:xfrm>
            <a:off x="8349335" y="2315223"/>
            <a:ext cx="335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Большой урожай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Скидки и акции на продукцию</a:t>
            </a:r>
            <a:endParaRPr/>
          </a:p>
        </p:txBody>
      </p:sp>
      <p:sp>
        <p:nvSpPr>
          <p:cNvPr id="704" name="Google Shape;704;p40"/>
          <p:cNvSpPr txBox="1"/>
          <p:nvPr/>
        </p:nvSpPr>
        <p:spPr>
          <a:xfrm>
            <a:off x="8348732" y="4294180"/>
            <a:ext cx="251383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Дождь, развод мостов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Услуги таксистов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4"/>
          <p:cNvSpPr txBox="1">
            <a:spLocks noGrp="1"/>
          </p:cNvSpPr>
          <p:nvPr>
            <p:ph type="title"/>
          </p:nvPr>
        </p:nvSpPr>
        <p:spPr>
          <a:xfrm>
            <a:off x="398600" y="116977"/>
            <a:ext cx="107121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Методы прогнозирования спроса</a:t>
            </a:r>
            <a:endParaRPr/>
          </a:p>
        </p:txBody>
      </p:sp>
      <p:sp>
        <p:nvSpPr>
          <p:cNvPr id="784" name="Google Shape;784;p44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4"/>
          <p:cNvSpPr txBox="1"/>
          <p:nvPr/>
        </p:nvSpPr>
        <p:spPr>
          <a:xfrm>
            <a:off x="447176" y="1448415"/>
            <a:ext cx="10850744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Количественные методы</a:t>
            </a:r>
            <a:endParaRPr/>
          </a:p>
        </p:txBody>
      </p:sp>
      <p:sp>
        <p:nvSpPr>
          <p:cNvPr id="786" name="Google Shape;786;p44"/>
          <p:cNvSpPr txBox="1"/>
          <p:nvPr/>
        </p:nvSpPr>
        <p:spPr>
          <a:xfrm>
            <a:off x="939372" y="2587240"/>
            <a:ext cx="48846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временных рядов</a:t>
            </a:r>
            <a:endParaRPr sz="2000" b="1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зучает динамику спроса (тренды, сезонность, цикличность) с помощью скользящих средних, экспоненциального сглаживания, прогнозируя будущие значения на основе прошлых паттернов.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4"/>
          <p:cNvSpPr txBox="1"/>
          <p:nvPr/>
        </p:nvSpPr>
        <p:spPr>
          <a:xfrm>
            <a:off x="6413320" y="2587240"/>
            <a:ext cx="48846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Регрессионный анализ</a:t>
            </a:r>
            <a:endParaRPr sz="2000" b="1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станавливает статистическую зависимость между спросом и независимыми переменными (цена, реклама, макроэкономика), учитывая влияние нескольких факторов для повышения точности.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5"/>
          <p:cNvSpPr txBox="1">
            <a:spLocks noGrp="1"/>
          </p:cNvSpPr>
          <p:nvPr>
            <p:ph type="title"/>
          </p:nvPr>
        </p:nvSpPr>
        <p:spPr>
          <a:xfrm>
            <a:off x="398600" y="116977"/>
            <a:ext cx="107121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Методы прогнозирования спроса</a:t>
            </a:r>
            <a:endParaRPr/>
          </a:p>
        </p:txBody>
      </p:sp>
      <p:sp>
        <p:nvSpPr>
          <p:cNvPr id="794" name="Google Shape;794;p45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5"/>
          <p:cNvSpPr txBox="1"/>
          <p:nvPr/>
        </p:nvSpPr>
        <p:spPr>
          <a:xfrm>
            <a:off x="447176" y="1448415"/>
            <a:ext cx="10850744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Качественные методы</a:t>
            </a:r>
            <a:endParaRPr/>
          </a:p>
        </p:txBody>
      </p:sp>
      <p:sp>
        <p:nvSpPr>
          <p:cNvPr id="796" name="Google Shape;796;p45"/>
          <p:cNvSpPr txBox="1"/>
          <p:nvPr/>
        </p:nvSpPr>
        <p:spPr>
          <a:xfrm>
            <a:off x="652464" y="2325101"/>
            <a:ext cx="3127056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 Дельфи</a:t>
            </a:r>
            <a:endParaRPr sz="20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1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труктурированный сбор и агрегация анонимных мнений независимых экспертов до консенсуса, минимизируя предубеждения.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5"/>
          <p:cNvSpPr txBox="1"/>
          <p:nvPr/>
        </p:nvSpPr>
        <p:spPr>
          <a:xfrm>
            <a:off x="4399280" y="2325101"/>
            <a:ext cx="322072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Опросы потребителей</a:t>
            </a:r>
            <a:endParaRPr sz="20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1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рямое взаимодействие с целевой аудиторией (анкетирование, интервью, фокус-группы) для выяснения намерений, предпочтений и ожиданий, ценное для оценки потенциала новых продуктов.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5"/>
          <p:cNvSpPr txBox="1"/>
          <p:nvPr/>
        </p:nvSpPr>
        <p:spPr>
          <a:xfrm>
            <a:off x="8239760" y="2324656"/>
            <a:ext cx="3502976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 экспертных оценок</a:t>
            </a:r>
            <a:endParaRPr sz="20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1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ривлечение специалистов с глубокими знаниями рынка и продукта для формирования прогнозов на основе опыта и интуиции, часто комбинируется с другими методами.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6"/>
          <p:cNvSpPr txBox="1">
            <a:spLocks noGrp="1"/>
          </p:cNvSpPr>
          <p:nvPr>
            <p:ph type="title"/>
          </p:nvPr>
        </p:nvSpPr>
        <p:spPr>
          <a:xfrm>
            <a:off x="398600" y="116977"/>
            <a:ext cx="107121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Методы прогнозирования спроса</a:t>
            </a:r>
            <a:endParaRPr/>
          </a:p>
        </p:txBody>
      </p:sp>
      <p:sp>
        <p:nvSpPr>
          <p:cNvPr id="805" name="Google Shape;805;p46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6"/>
          <p:cNvSpPr txBox="1"/>
          <p:nvPr/>
        </p:nvSpPr>
        <p:spPr>
          <a:xfrm>
            <a:off x="447176" y="1448415"/>
            <a:ext cx="10850744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Современные AI-методы</a:t>
            </a:r>
            <a:endParaRPr/>
          </a:p>
        </p:txBody>
      </p:sp>
      <p:sp>
        <p:nvSpPr>
          <p:cNvPr id="807" name="Google Shape;807;p46"/>
          <p:cNvSpPr txBox="1"/>
          <p:nvPr/>
        </p:nvSpPr>
        <p:spPr>
          <a:xfrm>
            <a:off x="398600" y="2340888"/>
            <a:ext cx="3559666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Нейронные сети</a:t>
            </a:r>
            <a:endParaRPr sz="20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1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одели, имитирующие мозг, обучаются на больших данных, выявляя скрытые паттерны, эффективны для прогнозирования в условиях высокой волатильности.</a:t>
            </a:r>
            <a:endParaRPr/>
          </a:p>
        </p:txBody>
      </p:sp>
      <p:sp>
        <p:nvSpPr>
          <p:cNvPr id="808" name="Google Shape;808;p46"/>
          <p:cNvSpPr txBox="1"/>
          <p:nvPr/>
        </p:nvSpPr>
        <p:spPr>
          <a:xfrm>
            <a:off x="4267591" y="2340888"/>
            <a:ext cx="3559666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Машинное обучение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ключает алгоритмы (градиентный бустинг, случайные леса), обучаемые на исторических данных для построения предиктивных моделей, адаптирующихся к условиям и улучшающих точность с новыми данными.</a:t>
            </a:r>
            <a:endParaRPr/>
          </a:p>
        </p:txBody>
      </p:sp>
      <p:sp>
        <p:nvSpPr>
          <p:cNvPr id="809" name="Google Shape;809;p46"/>
          <p:cNvSpPr txBox="1"/>
          <p:nvPr/>
        </p:nvSpPr>
        <p:spPr>
          <a:xfrm>
            <a:off x="8315528" y="2340888"/>
            <a:ext cx="327152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Глубокое обучение</a:t>
            </a:r>
            <a:endParaRPr sz="20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1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r>
              <a:rPr lang="ru-RU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одмножество ML, использующее многослойные нейронные сети, подходит для анализа больших и сложных данных (изображения, текст, временные ряды), выявляя тонкие взаимосвязи.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7"/>
          <p:cNvSpPr txBox="1">
            <a:spLocks noGrp="1"/>
          </p:cNvSpPr>
          <p:nvPr>
            <p:ph type="title"/>
          </p:nvPr>
        </p:nvSpPr>
        <p:spPr>
          <a:xfrm>
            <a:off x="398600" y="116977"/>
            <a:ext cx="107121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Ценовая дискриминация</a:t>
            </a:r>
            <a:endParaRPr/>
          </a:p>
        </p:txBody>
      </p:sp>
      <p:sp>
        <p:nvSpPr>
          <p:cNvPr id="816" name="Google Shape;816;p47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7"/>
          <p:cNvSpPr txBox="1"/>
          <p:nvPr/>
        </p:nvSpPr>
        <p:spPr>
          <a:xfrm>
            <a:off x="939342" y="1995438"/>
            <a:ext cx="10712116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Выделяют пять подходов, которые позволяют продавать один товар по разной стоимости: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lang="ru-RU" sz="2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дифференциация по категориям ЦА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lang="ru-RU" sz="2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дифференциация по геолокации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lang="ru-RU" sz="2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надбавка за особенности продукта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lang="ru-RU" sz="2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дифференциация по времени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lang="ru-RU" sz="2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наценка за бренд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"/>
          <p:cNvSpPr txBox="1">
            <a:spLocks noGrp="1"/>
          </p:cNvSpPr>
          <p:nvPr>
            <p:ph type="title"/>
          </p:nvPr>
        </p:nvSpPr>
        <p:spPr>
          <a:xfrm>
            <a:off x="838200" y="24810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 sz="4400" b="1">
                <a:latin typeface="Arial"/>
                <a:ea typeface="Arial"/>
                <a:cs typeface="Arial"/>
                <a:sym typeface="Arial"/>
              </a:rPr>
              <a:t>Экономическая природа предприятия и рынка</a:t>
            </a:r>
            <a:endParaRPr b="1"/>
          </a:p>
        </p:txBody>
      </p:sp>
      <p:sp>
        <p:nvSpPr>
          <p:cNvPr id="823" name="Google Shape;823;p4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4" name="Google Shape;824;p48"/>
          <p:cNvCxnSpPr/>
          <p:nvPr/>
        </p:nvCxnSpPr>
        <p:spPr>
          <a:xfrm>
            <a:off x="914400" y="3806567"/>
            <a:ext cx="7315200" cy="0"/>
          </a:xfrm>
          <a:prstGeom prst="straightConnector1">
            <a:avLst/>
          </a:prstGeom>
          <a:noFill/>
          <a:ln w="28575" cap="flat" cmpd="sng">
            <a:solidFill>
              <a:srgbClr val="9CFB0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9"/>
          <p:cNvSpPr/>
          <p:nvPr/>
        </p:nvSpPr>
        <p:spPr>
          <a:xfrm>
            <a:off x="349865" y="1373079"/>
            <a:ext cx="6108085" cy="529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Субъектами,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рынка являются: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69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физические лица</a:t>
            </a:r>
            <a:endParaRPr sz="2000"/>
          </a:p>
          <a:p>
            <a:pPr marL="457200" marR="0" lvl="0" indent="-469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домашнее хозяйство (семья) </a:t>
            </a:r>
            <a:endParaRPr sz="2000">
              <a:solidFill>
                <a:schemeClr val="dk1"/>
              </a:solidFill>
            </a:endParaRPr>
          </a:p>
          <a:p>
            <a:pPr marL="457200" marR="0" lvl="0" indent="-469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фирма </a:t>
            </a:r>
            <a:endParaRPr sz="2000">
              <a:solidFill>
                <a:schemeClr val="dk1"/>
              </a:solidFill>
            </a:endParaRPr>
          </a:p>
          <a:p>
            <a:pPr marL="457200" marR="0" lvl="0" indent="-469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государство </a:t>
            </a:r>
            <a:endParaRPr sz="2000"/>
          </a:p>
        </p:txBody>
      </p:sp>
      <p:sp>
        <p:nvSpPr>
          <p:cNvPr id="831" name="Google Shape;831;p49"/>
          <p:cNvSpPr txBox="1"/>
          <p:nvPr/>
        </p:nvSpPr>
        <p:spPr>
          <a:xfrm>
            <a:off x="6584075" y="1373079"/>
            <a:ext cx="5143500" cy="357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Объектами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рыночного хозяйства являются: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товары и услуги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факторы производства, деньги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ценные бумаги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субсидии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социальные выплаты и т.п. </a:t>
            </a:r>
            <a:endParaRPr/>
          </a:p>
        </p:txBody>
      </p:sp>
      <p:sp>
        <p:nvSpPr>
          <p:cNvPr id="832" name="Google Shape;832;p49"/>
          <p:cNvSpPr txBox="1"/>
          <p:nvPr/>
        </p:nvSpPr>
        <p:spPr>
          <a:xfrm>
            <a:off x="398600" y="382941"/>
            <a:ext cx="9212137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Экономический субъект и объект рынка</a:t>
            </a:r>
            <a:endParaRPr/>
          </a:p>
        </p:txBody>
      </p:sp>
      <p:cxnSp>
        <p:nvCxnSpPr>
          <p:cNvPr id="833" name="Google Shape;833;p49"/>
          <p:cNvCxnSpPr/>
          <p:nvPr/>
        </p:nvCxnSpPr>
        <p:spPr>
          <a:xfrm>
            <a:off x="6457950" y="1285629"/>
            <a:ext cx="0" cy="54748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34" name="Google Shape;834;p49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0"/>
          <p:cNvSpPr txBox="1">
            <a:spLocks noGrp="1"/>
          </p:cNvSpPr>
          <p:nvPr>
            <p:ph type="title"/>
          </p:nvPr>
        </p:nvSpPr>
        <p:spPr>
          <a:xfrm>
            <a:off x="552450" y="1447800"/>
            <a:ext cx="10344150" cy="152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- это совокупность учреждений, государственных и коммерческих фирм, обеспечивающих функционирование рыночных отношений.</a:t>
            </a:r>
            <a:endParaRPr/>
          </a:p>
        </p:txBody>
      </p:sp>
      <p:sp>
        <p:nvSpPr>
          <p:cNvPr id="841" name="Google Shape;841;p50"/>
          <p:cNvSpPr txBox="1"/>
          <p:nvPr/>
        </p:nvSpPr>
        <p:spPr>
          <a:xfrm>
            <a:off x="398600" y="451541"/>
            <a:ext cx="6096000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Инфраструктура рынка</a:t>
            </a:r>
            <a:r>
              <a:rPr lang="ru-RU"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0"/>
          <p:cNvSpPr txBox="1"/>
          <p:nvPr/>
        </p:nvSpPr>
        <p:spPr>
          <a:xfrm>
            <a:off x="1181100" y="3698360"/>
            <a:ext cx="6096000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Товарный рынок</a:t>
            </a:r>
            <a:endParaRPr sz="2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0"/>
          <p:cNvSpPr txBox="1"/>
          <p:nvPr/>
        </p:nvSpPr>
        <p:spPr>
          <a:xfrm>
            <a:off x="4229100" y="5171673"/>
            <a:ext cx="6096000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Финансовый рынок</a:t>
            </a:r>
            <a:endParaRPr sz="2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0"/>
          <p:cNvSpPr txBox="1"/>
          <p:nvPr/>
        </p:nvSpPr>
        <p:spPr>
          <a:xfrm>
            <a:off x="8157634" y="3551873"/>
            <a:ext cx="6096000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Рынок труда</a:t>
            </a:r>
            <a:endParaRPr sz="2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AC8D-1329-AE2A-9BFA-22E1CAE0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78E3F-1508-7D23-0D83-F13D3E311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88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ИНФРАСТРУКТУРА РЫНКА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3199B2-6EEE-A28D-28CD-7EDBFAC7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1241"/>
            <a:ext cx="10515600" cy="5486400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03E77D-3985-F7BD-0497-6942CEA76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74" y="1508234"/>
            <a:ext cx="2630433" cy="19688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BB1775-4F2E-72FB-13CF-FF4A2C3F6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063" y="1521740"/>
            <a:ext cx="3466991" cy="19349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66405E-A941-DFB7-A87A-5B4D73352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087" y="1532616"/>
            <a:ext cx="2372994" cy="19444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4E5243-30B2-234A-DDA7-DD151DF3A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37" y="1544806"/>
            <a:ext cx="2595515" cy="16338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E806AC-D516-44D1-76EC-747A3537862C}"/>
              </a:ext>
            </a:extLst>
          </p:cNvPr>
          <p:cNvSpPr txBox="1"/>
          <p:nvPr/>
        </p:nvSpPr>
        <p:spPr>
          <a:xfrm>
            <a:off x="7821827" y="5580157"/>
            <a:ext cx="45225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yandex.ru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/maps/org/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ovoshchi_frukty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/174401796046/?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=39.710333%2C47.216392&amp;z=16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https://www.hr-director.ru/article/67788-analiz-rynka-truda-rukovodstvo-dlya-hr-a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https://seminar-kadry.ru/seminar?kind=videoTraining&amp;rubric=&amp;city=?utm_medium=refer&amp;utm_source=www.hr-director.ru&amp;utm_campaign=PW_LastHope&amp;utm_term=PW_LastHope_torg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https://whatiscentralbank.hse.ru/3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isource.com</a:t>
            </a:r>
            <a:r>
              <a:rPr lang="e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/news/rynok-it-reshenii-itogi-2025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42C202B-C173-7B6A-97AC-29AFE8229F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974" y="3606396"/>
            <a:ext cx="4994948" cy="30323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C57AE4-C797-3FFF-79AC-6A00D5238799}"/>
              </a:ext>
            </a:extLst>
          </p:cNvPr>
          <p:cNvSpPr txBox="1"/>
          <p:nvPr/>
        </p:nvSpPr>
        <p:spPr>
          <a:xfrm>
            <a:off x="5746250" y="3857217"/>
            <a:ext cx="62030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 итогам года динамика ИТ-рынка составит менее 10%. Фокус сместился на сегмент информационной безопасности (ИБ), именно он сегодня обеспечивает общий рост ИТ-рынка.</a:t>
            </a:r>
            <a:b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Как показывает практика, в 2025—2026 году бюджеты на ИБ увеличились — в некоторых случаях даже в 2 раза, а вот на ИТ, наоборот, сократились.</a:t>
            </a:r>
            <a:b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рассматривать ИТ без учёта ИБ, наблюдалось падение более чем на 10%.</a:t>
            </a:r>
            <a:b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729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51"/>
          <p:cNvGrpSpPr/>
          <p:nvPr/>
        </p:nvGrpSpPr>
        <p:grpSpPr>
          <a:xfrm>
            <a:off x="1611086" y="1404257"/>
            <a:ext cx="9368377" cy="4977717"/>
            <a:chOff x="1986" y="4605"/>
            <a:chExt cx="6347" cy="5593"/>
          </a:xfrm>
        </p:grpSpPr>
        <p:sp>
          <p:nvSpPr>
            <p:cNvPr id="851" name="Google Shape;851;p51"/>
            <p:cNvSpPr/>
            <p:nvPr/>
          </p:nvSpPr>
          <p:spPr>
            <a:xfrm>
              <a:off x="1986" y="4605"/>
              <a:ext cx="6347" cy="5593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4233" y="4776"/>
              <a:ext cx="1694" cy="83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Рынки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товаров</a:t>
              </a:r>
              <a:endPara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4233" y="6587"/>
              <a:ext cx="1694" cy="69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Государство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и бюджетная система</a:t>
              </a:r>
              <a:endPara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4233" y="7688"/>
              <a:ext cx="1694" cy="85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Денежные и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финансовые рынки</a:t>
              </a:r>
              <a:endPara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6774" y="5891"/>
              <a:ext cx="1553" cy="55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Домашние хозяйства</a:t>
              </a:r>
              <a:endPara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1"/>
            <p:cNvSpPr/>
            <p:nvPr/>
          </p:nvSpPr>
          <p:spPr>
            <a:xfrm>
              <a:off x="2246" y="5750"/>
              <a:ext cx="1616" cy="69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Производство и фирмы</a:t>
              </a:r>
              <a:endParaRPr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1"/>
            <p:cNvSpPr/>
            <p:nvPr/>
          </p:nvSpPr>
          <p:spPr>
            <a:xfrm>
              <a:off x="4023" y="8825"/>
              <a:ext cx="1739" cy="113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Рынки ресурсов и факторов производства</a:t>
              </a:r>
              <a:endPara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8" name="Google Shape;858;p51"/>
            <p:cNvCxnSpPr/>
            <p:nvPr/>
          </p:nvCxnSpPr>
          <p:spPr>
            <a:xfrm rot="10800000" flipH="1">
              <a:off x="2638" y="5066"/>
              <a:ext cx="3" cy="683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9" name="Google Shape;859;p51"/>
            <p:cNvCxnSpPr/>
            <p:nvPr/>
          </p:nvCxnSpPr>
          <p:spPr>
            <a:xfrm>
              <a:off x="2638" y="5066"/>
              <a:ext cx="1570" cy="2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0" name="Google Shape;860;p51"/>
            <p:cNvCxnSpPr/>
            <p:nvPr/>
          </p:nvCxnSpPr>
          <p:spPr>
            <a:xfrm rot="10800000" flipH="1">
              <a:off x="2869" y="5180"/>
              <a:ext cx="1" cy="456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1" name="Google Shape;861;p51"/>
            <p:cNvCxnSpPr/>
            <p:nvPr/>
          </p:nvCxnSpPr>
          <p:spPr>
            <a:xfrm>
              <a:off x="2869" y="5180"/>
              <a:ext cx="1386" cy="2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2" name="Google Shape;862;p51"/>
            <p:cNvCxnSpPr/>
            <p:nvPr/>
          </p:nvCxnSpPr>
          <p:spPr>
            <a:xfrm>
              <a:off x="2592" y="5522"/>
              <a:ext cx="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3" name="Google Shape;863;p51"/>
            <p:cNvCxnSpPr/>
            <p:nvPr/>
          </p:nvCxnSpPr>
          <p:spPr>
            <a:xfrm>
              <a:off x="2638" y="5522"/>
              <a:ext cx="1" cy="114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4" name="Google Shape;864;p51"/>
            <p:cNvCxnSpPr/>
            <p:nvPr/>
          </p:nvCxnSpPr>
          <p:spPr>
            <a:xfrm>
              <a:off x="3792" y="5180"/>
              <a:ext cx="231" cy="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5" name="Google Shape;865;p51"/>
            <p:cNvCxnSpPr/>
            <p:nvPr/>
          </p:nvCxnSpPr>
          <p:spPr>
            <a:xfrm>
              <a:off x="3862" y="5978"/>
              <a:ext cx="577" cy="569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6" name="Google Shape;866;p51"/>
            <p:cNvCxnSpPr/>
            <p:nvPr/>
          </p:nvCxnSpPr>
          <p:spPr>
            <a:xfrm>
              <a:off x="5939" y="5294"/>
              <a:ext cx="1615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7" name="Google Shape;867;p51"/>
            <p:cNvCxnSpPr/>
            <p:nvPr/>
          </p:nvCxnSpPr>
          <p:spPr>
            <a:xfrm>
              <a:off x="7554" y="5294"/>
              <a:ext cx="0" cy="57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8" name="Google Shape;868;p51"/>
            <p:cNvCxnSpPr/>
            <p:nvPr/>
          </p:nvCxnSpPr>
          <p:spPr>
            <a:xfrm rot="10800000" flipH="1">
              <a:off x="8062" y="5066"/>
              <a:ext cx="1" cy="79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9" name="Google Shape;869;p51"/>
            <p:cNvCxnSpPr/>
            <p:nvPr/>
          </p:nvCxnSpPr>
          <p:spPr>
            <a:xfrm flipH="1">
              <a:off x="5939" y="6206"/>
              <a:ext cx="808" cy="683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0" name="Google Shape;870;p51"/>
            <p:cNvCxnSpPr/>
            <p:nvPr/>
          </p:nvCxnSpPr>
          <p:spPr>
            <a:xfrm rot="10800000">
              <a:off x="3054" y="6433"/>
              <a:ext cx="0" cy="684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1" name="Google Shape;871;p51"/>
            <p:cNvCxnSpPr/>
            <p:nvPr/>
          </p:nvCxnSpPr>
          <p:spPr>
            <a:xfrm>
              <a:off x="3054" y="7117"/>
              <a:ext cx="1154" cy="683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2" name="Google Shape;872;p51"/>
            <p:cNvCxnSpPr/>
            <p:nvPr/>
          </p:nvCxnSpPr>
          <p:spPr>
            <a:xfrm rot="10800000" flipH="1">
              <a:off x="7324" y="6433"/>
              <a:ext cx="1" cy="159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3" name="Google Shape;873;p51"/>
            <p:cNvCxnSpPr/>
            <p:nvPr/>
          </p:nvCxnSpPr>
          <p:spPr>
            <a:xfrm rot="10800000">
              <a:off x="5939" y="8028"/>
              <a:ext cx="1385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4" name="Google Shape;874;p51"/>
            <p:cNvCxnSpPr/>
            <p:nvPr/>
          </p:nvCxnSpPr>
          <p:spPr>
            <a:xfrm rot="10800000">
              <a:off x="2754" y="9395"/>
              <a:ext cx="1269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5" name="Google Shape;875;p51"/>
            <p:cNvCxnSpPr/>
            <p:nvPr/>
          </p:nvCxnSpPr>
          <p:spPr>
            <a:xfrm rot="10800000">
              <a:off x="2754" y="6433"/>
              <a:ext cx="0" cy="2962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6" name="Google Shape;876;p51"/>
            <p:cNvCxnSpPr/>
            <p:nvPr/>
          </p:nvCxnSpPr>
          <p:spPr>
            <a:xfrm>
              <a:off x="2408" y="6433"/>
              <a:ext cx="0" cy="3303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7" name="Google Shape;877;p51"/>
            <p:cNvCxnSpPr/>
            <p:nvPr/>
          </p:nvCxnSpPr>
          <p:spPr>
            <a:xfrm>
              <a:off x="2408" y="9736"/>
              <a:ext cx="1615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78" name="Google Shape;878;p51"/>
            <p:cNvCxnSpPr/>
            <p:nvPr/>
          </p:nvCxnSpPr>
          <p:spPr>
            <a:xfrm>
              <a:off x="5754" y="9622"/>
              <a:ext cx="2193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51"/>
            <p:cNvCxnSpPr/>
            <p:nvPr/>
          </p:nvCxnSpPr>
          <p:spPr>
            <a:xfrm rot="10800000">
              <a:off x="7947" y="6433"/>
              <a:ext cx="0" cy="3189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80" name="Google Shape;880;p51"/>
            <p:cNvCxnSpPr/>
            <p:nvPr/>
          </p:nvCxnSpPr>
          <p:spPr>
            <a:xfrm>
              <a:off x="7716" y="6433"/>
              <a:ext cx="1" cy="2506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1" name="Google Shape;881;p51"/>
            <p:cNvCxnSpPr/>
            <p:nvPr/>
          </p:nvCxnSpPr>
          <p:spPr>
            <a:xfrm rot="10800000">
              <a:off x="5754" y="8939"/>
              <a:ext cx="1962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82" name="Google Shape;882;p51"/>
            <p:cNvSpPr/>
            <p:nvPr/>
          </p:nvSpPr>
          <p:spPr>
            <a:xfrm>
              <a:off x="2408" y="4611"/>
              <a:ext cx="1731" cy="34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доходов фирм</a:t>
              </a:r>
              <a:endParaRPr/>
            </a:p>
          </p:txBody>
        </p:sp>
        <p:sp>
          <p:nvSpPr>
            <p:cNvPr id="883" name="Google Shape;883;p51"/>
            <p:cNvSpPr/>
            <p:nvPr/>
          </p:nvSpPr>
          <p:spPr>
            <a:xfrm>
              <a:off x="2869" y="5294"/>
              <a:ext cx="1270" cy="34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товаров</a:t>
              </a:r>
              <a:r>
                <a:rPr lang="ru-RU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4" name="Google Shape;884;p51"/>
            <p:cNvCxnSpPr/>
            <p:nvPr/>
          </p:nvCxnSpPr>
          <p:spPr>
            <a:xfrm>
              <a:off x="2869" y="5180"/>
              <a:ext cx="0" cy="57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85" name="Google Shape;885;p51"/>
            <p:cNvSpPr/>
            <p:nvPr/>
          </p:nvSpPr>
          <p:spPr>
            <a:xfrm>
              <a:off x="6216" y="4611"/>
              <a:ext cx="1960" cy="34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денег от населения</a:t>
              </a:r>
              <a:endParaRPr/>
            </a:p>
          </p:txBody>
        </p:sp>
        <p:cxnSp>
          <p:nvCxnSpPr>
            <p:cNvPr id="886" name="Google Shape;886;p51"/>
            <p:cNvCxnSpPr/>
            <p:nvPr/>
          </p:nvCxnSpPr>
          <p:spPr>
            <a:xfrm rot="10800000">
              <a:off x="5985" y="5066"/>
              <a:ext cx="2077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87" name="Google Shape;887;p51"/>
            <p:cNvSpPr/>
            <p:nvPr/>
          </p:nvSpPr>
          <p:spPr>
            <a:xfrm>
              <a:off x="5985" y="5408"/>
              <a:ext cx="1500" cy="34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товаров</a:t>
              </a:r>
              <a:r>
                <a:rPr lang="ru-RU" sz="1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1"/>
            <p:cNvSpPr/>
            <p:nvPr/>
          </p:nvSpPr>
          <p:spPr>
            <a:xfrm>
              <a:off x="4485" y="5978"/>
              <a:ext cx="1961" cy="341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Налоги на доходы</a:t>
              </a:r>
              <a:endParaRPr/>
            </a:p>
          </p:txBody>
        </p:sp>
        <p:sp>
          <p:nvSpPr>
            <p:cNvPr id="889" name="Google Shape;889;p51"/>
            <p:cNvSpPr/>
            <p:nvPr/>
          </p:nvSpPr>
          <p:spPr>
            <a:xfrm>
              <a:off x="2985" y="7800"/>
              <a:ext cx="1037" cy="6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кредитов и доходов</a:t>
              </a:r>
              <a:endParaRPr/>
            </a:p>
          </p:txBody>
        </p:sp>
        <p:sp>
          <p:nvSpPr>
            <p:cNvPr id="890" name="Google Shape;890;p51"/>
            <p:cNvSpPr/>
            <p:nvPr/>
          </p:nvSpPr>
          <p:spPr>
            <a:xfrm>
              <a:off x="5985" y="7344"/>
              <a:ext cx="1269" cy="57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сбережений и доходов</a:t>
              </a:r>
              <a:endParaRPr/>
            </a:p>
          </p:txBody>
        </p:sp>
        <p:sp>
          <p:nvSpPr>
            <p:cNvPr id="891" name="Google Shape;891;p51"/>
            <p:cNvSpPr/>
            <p:nvPr/>
          </p:nvSpPr>
          <p:spPr>
            <a:xfrm>
              <a:off x="5985" y="8370"/>
              <a:ext cx="1615" cy="45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ресурсов</a:t>
              </a:r>
              <a:endParaRPr/>
            </a:p>
          </p:txBody>
        </p:sp>
        <p:sp>
          <p:nvSpPr>
            <p:cNvPr id="892" name="Google Shape;892;p51"/>
            <p:cNvSpPr/>
            <p:nvPr/>
          </p:nvSpPr>
          <p:spPr>
            <a:xfrm>
              <a:off x="6100" y="9053"/>
              <a:ext cx="1731" cy="456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доходов от ресурсов</a:t>
              </a:r>
              <a:endParaRPr/>
            </a:p>
          </p:txBody>
        </p:sp>
        <p:sp>
          <p:nvSpPr>
            <p:cNvPr id="893" name="Google Shape;893;p51"/>
            <p:cNvSpPr/>
            <p:nvPr/>
          </p:nvSpPr>
          <p:spPr>
            <a:xfrm>
              <a:off x="2869" y="8825"/>
              <a:ext cx="1039" cy="456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ресурсов</a:t>
              </a:r>
              <a:endParaRPr/>
            </a:p>
          </p:txBody>
        </p:sp>
        <p:sp>
          <p:nvSpPr>
            <p:cNvPr id="894" name="Google Shape;894;p51"/>
            <p:cNvSpPr/>
            <p:nvPr/>
          </p:nvSpPr>
          <p:spPr>
            <a:xfrm>
              <a:off x="1992" y="9850"/>
              <a:ext cx="1847" cy="343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80750" tIns="40375" rIns="80750" bIns="403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3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Поток денег за ресурсы</a:t>
              </a:r>
              <a:endParaRPr/>
            </a:p>
          </p:txBody>
        </p:sp>
      </p:grpSp>
      <p:sp>
        <p:nvSpPr>
          <p:cNvPr id="895" name="Google Shape;895;p51"/>
          <p:cNvSpPr txBox="1"/>
          <p:nvPr/>
        </p:nvSpPr>
        <p:spPr>
          <a:xfrm>
            <a:off x="398400" y="320510"/>
            <a:ext cx="11793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 algn="ctr">
              <a:buSzPts val="1500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РЫНОК КАК СЕТЬ С КЛЮЧЕВОЙ РОЛЬЮ ГОСУДАРСТВА </a:t>
            </a:r>
            <a:endParaRPr lang="ru-RU" sz="2400" b="0" i="0" u="none" strike="noStrike" cap="none" dirty="0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998AD-3EF7-2FB7-8E37-0A7B351F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046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ЭПОХАЛЬНЫЙ ПРИМЕР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0C4AA9-A4DB-625A-8815-D1A7AE4623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2772" y="947841"/>
            <a:ext cx="5965371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данным одного авторитетного издания, к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омпанию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Стива Джобса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выпускала мощные рабочие станции и испытывала серьезные финансовые трудности, спас секретный заказ от венчурного фонда ЦРУ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ru-RU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уть помощи: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 данным расследования государственные структуры закупили компьютеры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раннем этапе.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Какой был результат: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Госзаказ дал компании Джобса необходимые деньги, время (около пяти лет) на стабилизацию бизнеса и сохранение технологической базы.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связано с Apple: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Позже операционная система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NeXTSTEP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легла в основу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 сам Стив Джобс триумфально вернулся в Apple в 1997 году, когда корпорация выкупила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" alt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" alt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www.computerra.ru</a:t>
            </a:r>
            <a:r>
              <a:rPr lang="en" alt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/358014/sekretnaya-sdelka-tsru-spasla-stiva-dzhobsa-ot-bankrotstva-i-vernula-v-apple/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2AC32F-9328-D85C-E919-08516DCF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892" y="2057401"/>
            <a:ext cx="5127336" cy="309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8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4"/>
          <p:cNvSpPr txBox="1">
            <a:spLocks noGrp="1"/>
          </p:cNvSpPr>
          <p:nvPr>
            <p:ph type="title"/>
          </p:nvPr>
        </p:nvSpPr>
        <p:spPr>
          <a:xfrm>
            <a:off x="838200" y="24810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 sz="4400" b="1">
                <a:latin typeface="Arial"/>
                <a:ea typeface="Arial"/>
                <a:cs typeface="Arial"/>
                <a:sym typeface="Arial"/>
              </a:rPr>
              <a:t>Рыночная среда </a:t>
            </a:r>
            <a:br>
              <a:rPr lang="ru-RU" sz="4400" b="1">
                <a:latin typeface="Arial"/>
                <a:ea typeface="Arial"/>
                <a:cs typeface="Arial"/>
                <a:sym typeface="Arial"/>
              </a:rPr>
            </a:br>
            <a:r>
              <a:rPr lang="ru-RU" sz="4400" b="1">
                <a:latin typeface="Arial"/>
                <a:ea typeface="Arial"/>
                <a:cs typeface="Arial"/>
                <a:sym typeface="Arial"/>
              </a:rPr>
              <a:t>и вывод продукта на рынок</a:t>
            </a:r>
            <a:endParaRPr b="1"/>
          </a:p>
        </p:txBody>
      </p:sp>
      <p:cxnSp>
        <p:nvCxnSpPr>
          <p:cNvPr id="901" name="Google Shape;901;p54"/>
          <p:cNvCxnSpPr/>
          <p:nvPr/>
        </p:nvCxnSpPr>
        <p:spPr>
          <a:xfrm>
            <a:off x="914400" y="3806567"/>
            <a:ext cx="73152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02" name="Google Shape;902;p54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5"/>
          <p:cNvSpPr txBox="1">
            <a:spLocks noGrp="1"/>
          </p:cNvSpPr>
          <p:nvPr>
            <p:ph type="title"/>
          </p:nvPr>
        </p:nvSpPr>
        <p:spPr>
          <a:xfrm>
            <a:off x="398600" y="116977"/>
            <a:ext cx="107121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3500" b="1">
                <a:latin typeface="Arial"/>
                <a:ea typeface="Arial"/>
                <a:cs typeface="Arial"/>
                <a:sym typeface="Arial"/>
              </a:rPr>
              <a:t>Типы рынков</a:t>
            </a:r>
            <a:endParaRPr/>
          </a:p>
        </p:txBody>
      </p:sp>
      <p:sp>
        <p:nvSpPr>
          <p:cNvPr id="909" name="Google Shape;909;p55"/>
          <p:cNvSpPr txBox="1"/>
          <p:nvPr/>
        </p:nvSpPr>
        <p:spPr>
          <a:xfrm>
            <a:off x="440533" y="1496526"/>
            <a:ext cx="48339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географическому положению </a:t>
            </a:r>
            <a:endParaRPr/>
          </a:p>
        </p:txBody>
      </p:sp>
      <p:sp>
        <p:nvSpPr>
          <p:cNvPr id="910" name="Google Shape;910;p55"/>
          <p:cNvSpPr txBox="1"/>
          <p:nvPr/>
        </p:nvSpPr>
        <p:spPr>
          <a:xfrm>
            <a:off x="6207917" y="1457812"/>
            <a:ext cx="554355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объектам рыночных отношений </a:t>
            </a:r>
            <a:endParaRPr/>
          </a:p>
        </p:txBody>
      </p:sp>
      <p:sp>
        <p:nvSpPr>
          <p:cNvPr id="911" name="Google Shape;911;p55"/>
          <p:cNvSpPr txBox="1"/>
          <p:nvPr/>
        </p:nvSpPr>
        <p:spPr>
          <a:xfrm>
            <a:off x="2490788" y="4552652"/>
            <a:ext cx="7210424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характеру организации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Оптовый рынок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крупные сделки, продажа партий товара.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Розничный рынок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продажа товаров конечным потребителям.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Биржевой рынок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торгуют стандартизированными товарами, ценными бумагами, валютой на бирже.</a:t>
            </a:r>
            <a:endParaRPr/>
          </a:p>
        </p:txBody>
      </p:sp>
      <p:sp>
        <p:nvSpPr>
          <p:cNvPr id="912" name="Google Shape;912;p55"/>
          <p:cNvSpPr txBox="1"/>
          <p:nvPr/>
        </p:nvSpPr>
        <p:spPr>
          <a:xfrm>
            <a:off x="440533" y="2061944"/>
            <a:ext cx="554355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Местный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рынок в пределах одного населенного пункта.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Региональный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рынок, охватывающий часть страны.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Национальный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рынок в пределах одной страны.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Мировой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– рынок, связывающий страны.</a:t>
            </a:r>
            <a:endParaRPr/>
          </a:p>
        </p:txBody>
      </p:sp>
      <p:sp>
        <p:nvSpPr>
          <p:cNvPr id="913" name="Google Shape;913;p55"/>
          <p:cNvSpPr txBox="1"/>
          <p:nvPr/>
        </p:nvSpPr>
        <p:spPr>
          <a:xfrm>
            <a:off x="6196169" y="1948973"/>
            <a:ext cx="554355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Рынок товаров и услуг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где торгуют потребительскими и промышленными товарами.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Финансовый рынок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включает рынки ценных бумаг, валюты, кредитов и другие.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Рынок труда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где происходит найм и поиск сотрудников.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Рынок информации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ru-RU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где торгуют данными и интеллектуальными продуктами.</a:t>
            </a:r>
            <a:endParaRPr/>
          </a:p>
        </p:txBody>
      </p:sp>
      <p:sp>
        <p:nvSpPr>
          <p:cNvPr id="914" name="Google Shape;914;p55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6"/>
          <p:cNvSpPr txBox="1"/>
          <p:nvPr/>
        </p:nvSpPr>
        <p:spPr>
          <a:xfrm>
            <a:off x="628649" y="2805752"/>
            <a:ext cx="1064369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Конкуренция</a:t>
            </a:r>
            <a:r>
              <a:rPr lang="ru-RU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это борьба между товаропроизводителями за более выгодные условия хозяйствования, за получение максимальной прибыли.</a:t>
            </a:r>
            <a:endParaRPr/>
          </a:p>
        </p:txBody>
      </p:sp>
      <p:sp>
        <p:nvSpPr>
          <p:cNvPr id="921" name="Google Shape;921;p56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0" name="Google Shape;940;p58"/>
          <p:cNvGraphicFramePr/>
          <p:nvPr/>
        </p:nvGraphicFramePr>
        <p:xfrm>
          <a:off x="1028667" y="548640"/>
          <a:ext cx="10405600" cy="5760790"/>
        </p:xfrm>
        <a:graphic>
          <a:graphicData uri="http://schemas.openxmlformats.org/drawingml/2006/table">
            <a:tbl>
              <a:tblPr>
                <a:noFill/>
                <a:tableStyleId>{AE1C989E-0EAC-4253-8018-FE855EB00D0E}</a:tableStyleId>
              </a:tblPr>
              <a:tblGrid>
                <a:gridCol w="184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Характерная черта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Совершенная конкуренция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Монополистическая конкуренция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Олигополия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Монополия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Число фирм в отрасли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Очень много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Много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Несколько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Одна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 товара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Одинаковые изделия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Разная продукция сходного назначения (взаимозаменяемая)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Одинаковые или различные изделия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Уникальный товар, без заменителей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Доля рынка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Очень небольшая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Небольшая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Значительная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Контроль над 100% рынка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Возможность влияния на цены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Отсутствует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Существует в узких рамках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Большая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Маленькая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Барьеры для входа в отрасль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Отсутствует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Существует но их сравнительно легко преодолеть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Существуют и преодолеть их трудно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Невозможно преодолеть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Примеры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Рынки сельскохозяйственной продукции, товарная биржа, валютные рынки.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Розничная торговля, производство одежды, обуви , книг и т.д.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Металлургия, автомобильная промышленность, промышленность и производство бытовых приборов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Газо-, электро-, водоснабжение, железная дорога.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41" name="Google Shape;941;p5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664C76-CDD8-15B8-02C2-EBF8C2655305}"/>
              </a:ext>
            </a:extLst>
          </p:cNvPr>
          <p:cNvSpPr txBox="1"/>
          <p:nvPr/>
        </p:nvSpPr>
        <p:spPr>
          <a:xfrm>
            <a:off x="712075" y="2613392"/>
            <a:ext cx="104972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b="1" dirty="0">
                <a:latin typeface="Arial" panose="020B0604020202020204" pitchFamily="34" charset="0"/>
                <a:cs typeface="Arial" panose="020B0604020202020204" pitchFamily="34" charset="0"/>
              </a:rPr>
              <a:t>Сегментация</a:t>
            </a:r>
            <a:r>
              <a:rPr lang="ru-RU" sz="2500" dirty="0">
                <a:latin typeface="Arial" panose="020B0604020202020204" pitchFamily="34" charset="0"/>
                <a:cs typeface="Arial" panose="020B0604020202020204" pitchFamily="34" charset="0"/>
              </a:rPr>
              <a:t> – разделение рынка на сегменты, т.е. группы покупателей, обладающих схожими характеристиками, с целью изучения их реакции на тот или иной товар/услугу и выбора целевых сегментов рынка</a:t>
            </a:r>
          </a:p>
        </p:txBody>
      </p:sp>
    </p:spTree>
    <p:extLst>
      <p:ext uri="{BB962C8B-B14F-4D97-AF65-F5344CB8AC3E}">
        <p14:creationId xmlns:p14="http://schemas.microsoft.com/office/powerpoint/2010/main" val="1896567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2D44B-8AE8-9B88-020A-5255A5DB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500" b="1" dirty="0">
                <a:latin typeface="Arial" panose="020B0604020202020204" pitchFamily="34" charset="0"/>
                <a:cs typeface="Arial" panose="020B0604020202020204" pitchFamily="34" charset="0"/>
              </a:rPr>
              <a:t>Критерии сегментации 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3B36A7FC-274B-4F29-6989-659BBF276B2B}"/>
              </a:ext>
            </a:extLst>
          </p:cNvPr>
          <p:cNvGrpSpPr/>
          <p:nvPr/>
        </p:nvGrpSpPr>
        <p:grpSpPr>
          <a:xfrm>
            <a:off x="1309195" y="1325561"/>
            <a:ext cx="9343040" cy="5077921"/>
            <a:chOff x="1309195" y="1325561"/>
            <a:chExt cx="9343040" cy="5077921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653243C5-AAA5-7986-7EB4-3EBDDCD0DEFD}"/>
                </a:ext>
              </a:extLst>
            </p:cNvPr>
            <p:cNvSpPr/>
            <p:nvPr/>
          </p:nvSpPr>
          <p:spPr>
            <a:xfrm>
              <a:off x="1309195" y="1325562"/>
              <a:ext cx="4272455" cy="144916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Социально-демографические</a:t>
              </a:r>
              <a:endPara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ru-RU" sz="1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пол, возраст, уровень дохода, образования</a:t>
              </a:r>
              <a:endParaRPr lang="ru-RU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09314F80-E38D-DC74-6595-3F1436B29B53}"/>
                </a:ext>
              </a:extLst>
            </p:cNvPr>
            <p:cNvSpPr/>
            <p:nvPr/>
          </p:nvSpPr>
          <p:spPr>
            <a:xfrm>
              <a:off x="6379780" y="1325561"/>
              <a:ext cx="4272455" cy="144916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Психографические</a:t>
              </a:r>
              <a:endPara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ru-RU" sz="1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образ жизни, тип личности, общественное положение </a:t>
              </a:r>
              <a:endParaRPr lang="ru-RU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Скругленный прямоугольник 7">
              <a:extLst>
                <a:ext uri="{FF2B5EF4-FFF2-40B4-BE49-F238E27FC236}">
                  <a16:creationId xmlns:a16="http://schemas.microsoft.com/office/drawing/2014/main" id="{F46D099B-98C3-65E6-59ED-6B9164EC7DF9}"/>
                </a:ext>
              </a:extLst>
            </p:cNvPr>
            <p:cNvSpPr/>
            <p:nvPr/>
          </p:nvSpPr>
          <p:spPr>
            <a:xfrm>
              <a:off x="1309195" y="2966545"/>
              <a:ext cx="4272455" cy="144916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Географические</a:t>
              </a:r>
              <a:endPara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ru-RU" sz="1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расположение рынка, численность и плотность населения</a:t>
              </a:r>
              <a:endParaRPr lang="ru-RU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690D061-AE70-CC95-9019-8B0FC29B4CAC}"/>
                </a:ext>
              </a:extLst>
            </p:cNvPr>
            <p:cNvSpPr/>
            <p:nvPr/>
          </p:nvSpPr>
          <p:spPr>
            <a:xfrm>
              <a:off x="6379779" y="2966546"/>
              <a:ext cx="4272455" cy="144916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Поведенческий</a:t>
              </a:r>
              <a:endPara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ru-RU" sz="1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повод для покупки, выгода, статус пользователя, степень приверженности</a:t>
              </a:r>
              <a:endParaRPr lang="ru-RU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7C98C063-69B1-ABF6-3983-683EB8F9EBD8}"/>
                </a:ext>
              </a:extLst>
            </p:cNvPr>
            <p:cNvSpPr/>
            <p:nvPr/>
          </p:nvSpPr>
          <p:spPr>
            <a:xfrm>
              <a:off x="3826422" y="4661393"/>
              <a:ext cx="4272455" cy="17420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Группы пользования</a:t>
              </a:r>
            </a:p>
            <a:p>
              <a:pPr algn="ctr"/>
              <a:r>
                <a:rPr lang="en-US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B2B, B2C, B2G, B2P</a:t>
              </a:r>
              <a:endParaRPr lang="ru-RU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63076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0"/>
          <p:cNvSpPr txBox="1"/>
          <p:nvPr/>
        </p:nvSpPr>
        <p:spPr>
          <a:xfrm>
            <a:off x="408271" y="425109"/>
            <a:ext cx="7461273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Этапы жизненного цикла товара</a:t>
            </a:r>
            <a:endParaRPr/>
          </a:p>
        </p:txBody>
      </p:sp>
      <p:grpSp>
        <p:nvGrpSpPr>
          <p:cNvPr id="955" name="Google Shape;955;p60"/>
          <p:cNvGrpSpPr/>
          <p:nvPr/>
        </p:nvGrpSpPr>
        <p:grpSpPr>
          <a:xfrm>
            <a:off x="571727" y="1200150"/>
            <a:ext cx="10934473" cy="4819650"/>
            <a:chOff x="571727" y="1200150"/>
            <a:chExt cx="10934473" cy="4819650"/>
          </a:xfrm>
        </p:grpSpPr>
        <p:cxnSp>
          <p:nvCxnSpPr>
            <p:cNvPr id="956" name="Google Shape;956;p60"/>
            <p:cNvCxnSpPr/>
            <p:nvPr/>
          </p:nvCxnSpPr>
          <p:spPr>
            <a:xfrm rot="10800000">
              <a:off x="1181100" y="1200150"/>
              <a:ext cx="0" cy="481965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957" name="Google Shape;957;p60"/>
            <p:cNvCxnSpPr/>
            <p:nvPr/>
          </p:nvCxnSpPr>
          <p:spPr>
            <a:xfrm>
              <a:off x="1181100" y="3609975"/>
              <a:ext cx="10134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958" name="Google Shape;958;p60"/>
            <p:cNvCxnSpPr/>
            <p:nvPr/>
          </p:nvCxnSpPr>
          <p:spPr>
            <a:xfrm>
              <a:off x="4999434" y="2459068"/>
              <a:ext cx="0" cy="35433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miter lim="8000"/>
              <a:headEnd type="none" w="sm" len="sm"/>
              <a:tailEnd type="none" w="sm" len="sm"/>
            </a:ln>
          </p:spPr>
        </p:cxnSp>
        <p:cxnSp>
          <p:nvCxnSpPr>
            <p:cNvPr id="959" name="Google Shape;959;p60"/>
            <p:cNvCxnSpPr/>
            <p:nvPr/>
          </p:nvCxnSpPr>
          <p:spPr>
            <a:xfrm>
              <a:off x="7321642" y="1702972"/>
              <a:ext cx="0" cy="4316828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miter lim="8000"/>
              <a:headEnd type="none" w="sm" len="sm"/>
              <a:tailEnd type="none" w="sm" len="sm"/>
            </a:ln>
          </p:spPr>
        </p:cxnSp>
        <p:sp>
          <p:nvSpPr>
            <p:cNvPr id="960" name="Google Shape;960;p60"/>
            <p:cNvSpPr txBox="1"/>
            <p:nvPr/>
          </p:nvSpPr>
          <p:spPr>
            <a:xfrm>
              <a:off x="1274153" y="3861386"/>
              <a:ext cx="15760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Зарождение</a:t>
              </a:r>
              <a:endParaRPr/>
            </a:p>
          </p:txBody>
        </p:sp>
        <p:sp>
          <p:nvSpPr>
            <p:cNvPr id="961" name="Google Shape;961;p60"/>
            <p:cNvSpPr txBox="1"/>
            <p:nvPr/>
          </p:nvSpPr>
          <p:spPr>
            <a:xfrm>
              <a:off x="5689353" y="3887401"/>
              <a:ext cx="108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Рост</a:t>
              </a:r>
              <a:endParaRPr/>
            </a:p>
          </p:txBody>
        </p:sp>
        <p:sp>
          <p:nvSpPr>
            <p:cNvPr id="962" name="Google Shape;962;p60"/>
            <p:cNvSpPr txBox="1"/>
            <p:nvPr/>
          </p:nvSpPr>
          <p:spPr>
            <a:xfrm>
              <a:off x="7869544" y="3894864"/>
              <a:ext cx="12638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Зрелость</a:t>
              </a:r>
              <a:endParaRPr/>
            </a:p>
          </p:txBody>
        </p:sp>
        <p:sp>
          <p:nvSpPr>
            <p:cNvPr id="963" name="Google Shape;963;p60"/>
            <p:cNvSpPr txBox="1"/>
            <p:nvPr/>
          </p:nvSpPr>
          <p:spPr>
            <a:xfrm>
              <a:off x="2912943" y="3963183"/>
              <a:ext cx="26127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Выход на рынок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60"/>
            <p:cNvSpPr txBox="1"/>
            <p:nvPr/>
          </p:nvSpPr>
          <p:spPr>
            <a:xfrm>
              <a:off x="9909669" y="3887412"/>
              <a:ext cx="7649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Спад</a:t>
              </a:r>
              <a:endParaRPr/>
            </a:p>
          </p:txBody>
        </p:sp>
        <p:sp>
          <p:nvSpPr>
            <p:cNvPr id="965" name="Google Shape;965;p60"/>
            <p:cNvSpPr txBox="1"/>
            <p:nvPr/>
          </p:nvSpPr>
          <p:spPr>
            <a:xfrm rot="-5400000">
              <a:off x="-727379" y="3244334"/>
              <a:ext cx="29675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Объем продаж и прибыль</a:t>
              </a:r>
              <a:endParaRPr/>
            </a:p>
          </p:txBody>
        </p:sp>
        <p:sp>
          <p:nvSpPr>
            <p:cNvPr id="966" name="Google Shape;966;p60"/>
            <p:cNvSpPr txBox="1"/>
            <p:nvPr/>
          </p:nvSpPr>
          <p:spPr>
            <a:xfrm>
              <a:off x="10523395" y="3648145"/>
              <a:ext cx="8787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Время</a:t>
              </a:r>
              <a:endParaRPr/>
            </a:p>
          </p:txBody>
        </p:sp>
        <p:sp>
          <p:nvSpPr>
            <p:cNvPr id="967" name="Google Shape;967;p60"/>
            <p:cNvSpPr txBox="1"/>
            <p:nvPr/>
          </p:nvSpPr>
          <p:spPr>
            <a:xfrm>
              <a:off x="5845432" y="1228691"/>
              <a:ext cx="29560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Объем продаж продукции</a:t>
              </a:r>
              <a:endParaRPr/>
            </a:p>
          </p:txBody>
        </p:sp>
        <p:sp>
          <p:nvSpPr>
            <p:cNvPr id="968" name="Google Shape;968;p60"/>
            <p:cNvSpPr txBox="1"/>
            <p:nvPr/>
          </p:nvSpPr>
          <p:spPr>
            <a:xfrm>
              <a:off x="7305928" y="2167692"/>
              <a:ext cx="11608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Прибыль</a:t>
              </a:r>
              <a:endParaRPr/>
            </a:p>
          </p:txBody>
        </p:sp>
        <p:sp>
          <p:nvSpPr>
            <p:cNvPr id="969" name="Google Shape;969;p60"/>
            <p:cNvSpPr txBox="1"/>
            <p:nvPr/>
          </p:nvSpPr>
          <p:spPr>
            <a:xfrm>
              <a:off x="1613980" y="4520368"/>
              <a:ext cx="2766472" cy="116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Создание новых технологий, полный цикл разработки и производства, ед-цы потребителей, прямые продажи</a:t>
              </a:r>
              <a:endParaRPr/>
            </a:p>
          </p:txBody>
        </p:sp>
        <p:sp>
          <p:nvSpPr>
            <p:cNvPr id="970" name="Google Shape;970;p60"/>
            <p:cNvSpPr txBox="1"/>
            <p:nvPr/>
          </p:nvSpPr>
          <p:spPr>
            <a:xfrm>
              <a:off x="5202166" y="4591190"/>
              <a:ext cx="1977693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Быстрый рост числа новых применений и числа участников рынка</a:t>
              </a:r>
              <a:endParaRPr/>
            </a:p>
          </p:txBody>
        </p:sp>
        <p:sp>
          <p:nvSpPr>
            <p:cNvPr id="971" name="Google Shape;971;p60"/>
            <p:cNvSpPr txBox="1"/>
            <p:nvPr/>
          </p:nvSpPr>
          <p:spPr>
            <a:xfrm>
              <a:off x="7758904" y="4596708"/>
              <a:ext cx="3114591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Рост ценовой конкуренции, сокращение прибыли, повышения требований к масштабу, четкое позиционирование</a:t>
              </a:r>
              <a:endParaRPr/>
            </a:p>
          </p:txBody>
        </p:sp>
        <p:sp>
          <p:nvSpPr>
            <p:cNvPr id="972" name="Google Shape;972;p60"/>
            <p:cNvSpPr/>
            <p:nvPr/>
          </p:nvSpPr>
          <p:spPr>
            <a:xfrm>
              <a:off x="1219200" y="1694372"/>
              <a:ext cx="10287000" cy="1925128"/>
            </a:xfrm>
            <a:custGeom>
              <a:avLst/>
              <a:gdLst/>
              <a:ahLst/>
              <a:cxnLst/>
              <a:rect l="l" t="t" r="r" b="b"/>
              <a:pathLst>
                <a:path w="10287000" h="1925128" extrusionOk="0">
                  <a:moveTo>
                    <a:pt x="0" y="1925128"/>
                  </a:moveTo>
                  <a:lnTo>
                    <a:pt x="3810000" y="724978"/>
                  </a:lnTo>
                  <a:cubicBezTo>
                    <a:pt x="4832350" y="404303"/>
                    <a:pt x="5426075" y="-24322"/>
                    <a:pt x="6134100" y="1078"/>
                  </a:cubicBezTo>
                  <a:cubicBezTo>
                    <a:pt x="6842125" y="26478"/>
                    <a:pt x="7366000" y="632903"/>
                    <a:pt x="8058150" y="877378"/>
                  </a:cubicBezTo>
                  <a:cubicBezTo>
                    <a:pt x="8750300" y="1121853"/>
                    <a:pt x="9788525" y="1347278"/>
                    <a:pt x="10287000" y="1467928"/>
                  </a:cubicBezTo>
                </a:path>
              </a:pathLst>
            </a:custGeom>
            <a:noFill/>
            <a:ln w="38100" cap="flat" cmpd="sng">
              <a:solidFill>
                <a:srgbClr val="143C6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0"/>
            <p:cNvSpPr/>
            <p:nvPr/>
          </p:nvSpPr>
          <p:spPr>
            <a:xfrm>
              <a:off x="1219200" y="2594244"/>
              <a:ext cx="10153650" cy="1311006"/>
            </a:xfrm>
            <a:custGeom>
              <a:avLst/>
              <a:gdLst/>
              <a:ahLst/>
              <a:cxnLst/>
              <a:rect l="l" t="t" r="r" b="b"/>
              <a:pathLst>
                <a:path w="10153650" h="1311006" extrusionOk="0">
                  <a:moveTo>
                    <a:pt x="0" y="1044306"/>
                  </a:moveTo>
                  <a:cubicBezTo>
                    <a:pt x="739775" y="1177656"/>
                    <a:pt x="1479550" y="1311006"/>
                    <a:pt x="2114550" y="1311006"/>
                  </a:cubicBezTo>
                  <a:cubicBezTo>
                    <a:pt x="2749550" y="1311006"/>
                    <a:pt x="3136900" y="1260206"/>
                    <a:pt x="3810000" y="1044306"/>
                  </a:cubicBezTo>
                  <a:cubicBezTo>
                    <a:pt x="4483100" y="828406"/>
                    <a:pt x="5461000" y="114031"/>
                    <a:pt x="6153150" y="15606"/>
                  </a:cubicBezTo>
                  <a:cubicBezTo>
                    <a:pt x="6845300" y="-82819"/>
                    <a:pt x="7296150" y="310881"/>
                    <a:pt x="7962900" y="453756"/>
                  </a:cubicBezTo>
                  <a:cubicBezTo>
                    <a:pt x="8629650" y="596631"/>
                    <a:pt x="9391650" y="734743"/>
                    <a:pt x="10153650" y="872856"/>
                  </a:cubicBezTo>
                </a:path>
              </a:pathLst>
            </a:custGeom>
            <a:noFill/>
            <a:ln w="38100" cap="flat" cmpd="sng">
              <a:solidFill>
                <a:srgbClr val="C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4" name="Google Shape;974;p6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F24BDC5-13CC-04C4-11DA-E2341DB5DCF3}"/>
              </a:ext>
            </a:extLst>
          </p:cNvPr>
          <p:cNvGrpSpPr/>
          <p:nvPr/>
        </p:nvGrpSpPr>
        <p:grpSpPr>
          <a:xfrm>
            <a:off x="291548" y="1076858"/>
            <a:ext cx="11900452" cy="5407341"/>
            <a:chOff x="145774" y="1420010"/>
            <a:chExt cx="11900452" cy="54073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BAB99B-1CA7-24F9-DF4A-7A155741982F}"/>
                </a:ext>
              </a:extLst>
            </p:cNvPr>
            <p:cNvSpPr txBox="1"/>
            <p:nvPr/>
          </p:nvSpPr>
          <p:spPr>
            <a:xfrm>
              <a:off x="145774" y="6406595"/>
              <a:ext cx="11900452" cy="4207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67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r>
                <a:rPr lang="ru-RU" sz="1067" dirty="0" err="1">
                  <a:latin typeface="Arial" panose="020B0604020202020204" pitchFamily="34" charset="0"/>
                  <a:cs typeface="Arial" panose="020B0604020202020204" pitchFamily="34" charset="0"/>
                </a:rPr>
                <a:t>https</a:t>
              </a:r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://</a:t>
              </a:r>
              <a:r>
                <a:rPr lang="ru-RU" sz="1067" dirty="0" err="1">
                  <a:latin typeface="Arial" panose="020B0604020202020204" pitchFamily="34" charset="0"/>
                  <a:cs typeface="Arial" panose="020B0604020202020204" pitchFamily="34" charset="0"/>
                </a:rPr>
                <a:t>www.gartner.com</a:t>
              </a:r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ru-RU" sz="1067" dirty="0" err="1"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ru-RU" sz="1067" dirty="0" err="1">
                  <a:latin typeface="Arial" panose="020B0604020202020204" pitchFamily="34" charset="0"/>
                  <a:cs typeface="Arial" panose="020B0604020202020204" pitchFamily="34" charset="0"/>
                </a:rPr>
                <a:t>newsroom</a:t>
              </a:r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ru-RU" sz="1067" dirty="0" err="1">
                  <a:latin typeface="Arial" panose="020B0604020202020204" pitchFamily="34" charset="0"/>
                  <a:cs typeface="Arial" panose="020B0604020202020204" pitchFamily="34" charset="0"/>
                </a:rPr>
                <a:t>press-releases</a:t>
              </a:r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/2022-08-10-gartner-identifies-key-emerging-technologies-expanding-immersive-experiences-accelerating-ai-automation-and-optimizing-technologist-delivery</a:t>
              </a:r>
            </a:p>
          </p:txBody>
        </p:sp>
        <p:cxnSp>
          <p:nvCxnSpPr>
            <p:cNvPr id="3" name="Прямая со стрелкой 2">
              <a:extLst>
                <a:ext uri="{FF2B5EF4-FFF2-40B4-BE49-F238E27FC236}">
                  <a16:creationId xmlns:a16="http://schemas.microsoft.com/office/drawing/2014/main" id="{CBB2F306-5BBA-0EDD-BE29-669FE5DDE5B8}"/>
                </a:ext>
              </a:extLst>
            </p:cNvPr>
            <p:cNvCxnSpPr/>
            <p:nvPr/>
          </p:nvCxnSpPr>
          <p:spPr>
            <a:xfrm>
              <a:off x="1133139" y="5522259"/>
              <a:ext cx="10485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E52AC162-62BF-DB9A-0089-377F782F69DA}"/>
                </a:ext>
              </a:extLst>
            </p:cNvPr>
            <p:cNvCxnSpPr/>
            <p:nvPr/>
          </p:nvCxnSpPr>
          <p:spPr>
            <a:xfrm flipV="1">
              <a:off x="1133139" y="1420010"/>
              <a:ext cx="0" cy="41022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D3EFC97-EB9E-65E2-540C-1052AD0314DA}"/>
                </a:ext>
              </a:extLst>
            </p:cNvPr>
            <p:cNvSpPr/>
            <p:nvPr/>
          </p:nvSpPr>
          <p:spPr>
            <a:xfrm>
              <a:off x="1147483" y="1598352"/>
              <a:ext cx="10556837" cy="3909563"/>
            </a:xfrm>
            <a:custGeom>
              <a:avLst/>
              <a:gdLst>
                <a:gd name="connsiteX0" fmla="*/ 0 w 7917628"/>
                <a:gd name="connsiteY0" fmla="*/ 2932172 h 2932172"/>
                <a:gd name="connsiteX1" fmla="*/ 1613647 w 7917628"/>
                <a:gd name="connsiteY1" fmla="*/ 6092 h 2932172"/>
                <a:gd name="connsiteX2" fmla="*/ 3044414 w 7917628"/>
                <a:gd name="connsiteY2" fmla="*/ 2136107 h 2932172"/>
                <a:gd name="connsiteX3" fmla="*/ 5206701 w 7917628"/>
                <a:gd name="connsiteY3" fmla="*/ 1124888 h 2932172"/>
                <a:gd name="connsiteX4" fmla="*/ 7315200 w 7917628"/>
                <a:gd name="connsiteY4" fmla="*/ 1028069 h 2932172"/>
                <a:gd name="connsiteX5" fmla="*/ 7917628 w 7917628"/>
                <a:gd name="connsiteY5" fmla="*/ 1028069 h 293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17628" h="2932172">
                  <a:moveTo>
                    <a:pt x="0" y="2932172"/>
                  </a:moveTo>
                  <a:cubicBezTo>
                    <a:pt x="553122" y="1535470"/>
                    <a:pt x="1106245" y="138769"/>
                    <a:pt x="1613647" y="6092"/>
                  </a:cubicBezTo>
                  <a:cubicBezTo>
                    <a:pt x="2121049" y="-126585"/>
                    <a:pt x="2445572" y="1949641"/>
                    <a:pt x="3044414" y="2136107"/>
                  </a:cubicBezTo>
                  <a:cubicBezTo>
                    <a:pt x="3643256" y="2322573"/>
                    <a:pt x="4494903" y="1309561"/>
                    <a:pt x="5206701" y="1124888"/>
                  </a:cubicBezTo>
                  <a:cubicBezTo>
                    <a:pt x="5918499" y="940215"/>
                    <a:pt x="6863379" y="1044205"/>
                    <a:pt x="7315200" y="1028069"/>
                  </a:cubicBezTo>
                  <a:cubicBezTo>
                    <a:pt x="7767021" y="1011932"/>
                    <a:pt x="7842324" y="1020000"/>
                    <a:pt x="7917628" y="1028069"/>
                  </a:cubicBezTo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3D1FACDA-1EB3-30B3-64E6-1539EEAD6199}"/>
                </a:ext>
              </a:extLst>
            </p:cNvPr>
            <p:cNvSpPr/>
            <p:nvPr/>
          </p:nvSpPr>
          <p:spPr>
            <a:xfrm>
              <a:off x="1513490" y="6120050"/>
              <a:ext cx="182180" cy="19619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87046270-CF79-D51D-C626-4747916669FE}"/>
                </a:ext>
              </a:extLst>
            </p:cNvPr>
            <p:cNvSpPr/>
            <p:nvPr/>
          </p:nvSpPr>
          <p:spPr>
            <a:xfrm>
              <a:off x="3048001" y="6120050"/>
              <a:ext cx="182180" cy="19619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F4B8420E-A656-9D93-042D-3F25493DB967}"/>
                </a:ext>
              </a:extLst>
            </p:cNvPr>
            <p:cNvSpPr/>
            <p:nvPr/>
          </p:nvSpPr>
          <p:spPr>
            <a:xfrm>
              <a:off x="4582511" y="6120050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7E4A9147-7134-4C9B-F47C-051F5E1B2319}"/>
                </a:ext>
              </a:extLst>
            </p:cNvPr>
            <p:cNvSpPr/>
            <p:nvPr/>
          </p:nvSpPr>
          <p:spPr>
            <a:xfrm>
              <a:off x="7994198" y="6120050"/>
              <a:ext cx="182180" cy="19619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F50D9E46-190D-138E-BDB9-0ABE1F33D545}"/>
                </a:ext>
              </a:extLst>
            </p:cNvPr>
            <p:cNvSpPr/>
            <p:nvPr/>
          </p:nvSpPr>
          <p:spPr>
            <a:xfrm>
              <a:off x="6236043" y="6099029"/>
              <a:ext cx="182180" cy="19619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C25478-B527-4138-92BE-B837BFD57FCD}"/>
                </a:ext>
              </a:extLst>
            </p:cNvPr>
            <p:cNvSpPr txBox="1"/>
            <p:nvPr/>
          </p:nvSpPr>
          <p:spPr>
            <a:xfrm>
              <a:off x="1680801" y="6063955"/>
              <a:ext cx="770211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33" dirty="0">
                  <a:latin typeface="Arial" panose="020B0604020202020204" pitchFamily="34" charset="0"/>
                  <a:cs typeface="Arial" panose="020B0604020202020204" pitchFamily="34" charset="0"/>
                </a:rPr>
                <a:t>&lt;2</a:t>
              </a:r>
              <a:r>
                <a:rPr lang="ru-RU" sz="1333" dirty="0">
                  <a:latin typeface="Arial" panose="020B0604020202020204" pitchFamily="34" charset="0"/>
                  <a:cs typeface="Arial" panose="020B0604020202020204" pitchFamily="34" charset="0"/>
                </a:rPr>
                <a:t> года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2B015F6-2F54-FA32-EE3B-05E24F0901F4}"/>
                </a:ext>
              </a:extLst>
            </p:cNvPr>
            <p:cNvSpPr txBox="1"/>
            <p:nvPr/>
          </p:nvSpPr>
          <p:spPr>
            <a:xfrm>
              <a:off x="3224388" y="6053998"/>
              <a:ext cx="746423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333" dirty="0">
                  <a:latin typeface="Arial" panose="020B0604020202020204" pitchFamily="34" charset="0"/>
                  <a:cs typeface="Arial" panose="020B0604020202020204" pitchFamily="34" charset="0"/>
                </a:rPr>
                <a:t>2-5 лет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39EBE3A-AA90-D2C9-F375-2726558F6E74}"/>
                </a:ext>
              </a:extLst>
            </p:cNvPr>
            <p:cNvSpPr txBox="1"/>
            <p:nvPr/>
          </p:nvSpPr>
          <p:spPr>
            <a:xfrm>
              <a:off x="4831206" y="6033107"/>
              <a:ext cx="859531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333" dirty="0">
                  <a:latin typeface="Arial" panose="020B0604020202020204" pitchFamily="34" charset="0"/>
                  <a:cs typeface="Arial" panose="020B0604020202020204" pitchFamily="34" charset="0"/>
                </a:rPr>
                <a:t>5-10 лет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A00E32-F323-92E6-01E3-A52C09D80EC8}"/>
                </a:ext>
              </a:extLst>
            </p:cNvPr>
            <p:cNvSpPr txBox="1"/>
            <p:nvPr/>
          </p:nvSpPr>
          <p:spPr>
            <a:xfrm>
              <a:off x="6437425" y="6045256"/>
              <a:ext cx="795411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333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1333" dirty="0">
                  <a:latin typeface="Arial" panose="020B0604020202020204" pitchFamily="34" charset="0"/>
                  <a:cs typeface="Arial" panose="020B0604020202020204" pitchFamily="34" charset="0"/>
                </a:rPr>
                <a:t>&gt;</a:t>
              </a:r>
              <a:r>
                <a:rPr lang="ru-RU" sz="1333" dirty="0">
                  <a:latin typeface="Arial" panose="020B0604020202020204" pitchFamily="34" charset="0"/>
                  <a:cs typeface="Arial" panose="020B0604020202020204" pitchFamily="34" charset="0"/>
                </a:rPr>
                <a:t> лет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2F0C4C-756C-C6FE-C942-E7A258BE43F8}"/>
                </a:ext>
              </a:extLst>
            </p:cNvPr>
            <p:cNvSpPr txBox="1"/>
            <p:nvPr/>
          </p:nvSpPr>
          <p:spPr>
            <a:xfrm>
              <a:off x="8211413" y="6045256"/>
              <a:ext cx="1134606" cy="297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333" dirty="0">
                  <a:latin typeface="Arial" panose="020B0604020202020204" pitchFamily="34" charset="0"/>
                  <a:cs typeface="Arial" panose="020B0604020202020204" pitchFamily="34" charset="0"/>
                </a:rPr>
                <a:t>устаревший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294E8ED-1A02-794C-0E31-562C5266A908}"/>
                </a:ext>
              </a:extLst>
            </p:cNvPr>
            <p:cNvSpPr txBox="1"/>
            <p:nvPr/>
          </p:nvSpPr>
          <p:spPr>
            <a:xfrm>
              <a:off x="2459449" y="5521552"/>
              <a:ext cx="1609615" cy="420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Пик завышенных ожиданий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FA67FE-78F1-CD5C-4B7F-A1F56D8DEFDA}"/>
                </a:ext>
              </a:extLst>
            </p:cNvPr>
            <p:cNvSpPr txBox="1"/>
            <p:nvPr/>
          </p:nvSpPr>
          <p:spPr>
            <a:xfrm>
              <a:off x="4486385" y="5505850"/>
              <a:ext cx="1609615" cy="420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Корыто разочарования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3F95D9-C14E-3A2E-64CD-4C929477EB08}"/>
                </a:ext>
              </a:extLst>
            </p:cNvPr>
            <p:cNvSpPr txBox="1"/>
            <p:nvPr/>
          </p:nvSpPr>
          <p:spPr>
            <a:xfrm>
              <a:off x="629401" y="5536543"/>
              <a:ext cx="1340915" cy="420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Триггер инноваций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CBED06-700B-0672-44BD-802928C81F1E}"/>
                </a:ext>
              </a:extLst>
            </p:cNvPr>
            <p:cNvSpPr txBox="1"/>
            <p:nvPr/>
          </p:nvSpPr>
          <p:spPr>
            <a:xfrm>
              <a:off x="6592051" y="5512668"/>
              <a:ext cx="1609615" cy="256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Склон просветления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207EBF-AE25-FC25-049A-6ABC147B8499}"/>
                </a:ext>
              </a:extLst>
            </p:cNvPr>
            <p:cNvSpPr txBox="1"/>
            <p:nvPr/>
          </p:nvSpPr>
          <p:spPr>
            <a:xfrm>
              <a:off x="8697717" y="5553059"/>
              <a:ext cx="1813483" cy="420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67" dirty="0">
                  <a:latin typeface="Arial" panose="020B0604020202020204" pitchFamily="34" charset="0"/>
                  <a:cs typeface="Arial" panose="020B0604020202020204" pitchFamily="34" charset="0"/>
                </a:rPr>
                <a:t>Плато производительности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B6A1A0-AA96-9900-B0E2-99CC3344FB58}"/>
                </a:ext>
              </a:extLst>
            </p:cNvPr>
            <p:cNvSpPr txBox="1"/>
            <p:nvPr/>
          </p:nvSpPr>
          <p:spPr>
            <a:xfrm rot="16200000">
              <a:off x="248893" y="3424862"/>
              <a:ext cx="1340915" cy="256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67" b="1" dirty="0">
                  <a:latin typeface="Arial" panose="020B0604020202020204" pitchFamily="34" charset="0"/>
                  <a:cs typeface="Arial" panose="020B0604020202020204" pitchFamily="34" charset="0"/>
                </a:rPr>
                <a:t>Ожидания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E17794-0218-25E9-B414-71573F1545DF}"/>
                </a:ext>
              </a:extLst>
            </p:cNvPr>
            <p:cNvSpPr txBox="1"/>
            <p:nvPr/>
          </p:nvSpPr>
          <p:spPr>
            <a:xfrm>
              <a:off x="4766535" y="5217403"/>
              <a:ext cx="1609615" cy="256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67" b="1" dirty="0">
                  <a:latin typeface="Arial" panose="020B0604020202020204" pitchFamily="34" charset="0"/>
                  <a:cs typeface="Arial" panose="020B0604020202020204" pitchFamily="34" charset="0"/>
                </a:rPr>
                <a:t>Время</a:t>
              </a:r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85C57C09-8AD0-3283-FCC9-E405A3F6A698}"/>
                </a:ext>
              </a:extLst>
            </p:cNvPr>
            <p:cNvSpPr/>
            <p:nvPr/>
          </p:nvSpPr>
          <p:spPr>
            <a:xfrm>
              <a:off x="3784601" y="2056050"/>
              <a:ext cx="182180" cy="19619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36C96670-1691-B8C3-C62F-19E621F430FF}"/>
                </a:ext>
              </a:extLst>
            </p:cNvPr>
            <p:cNvSpPr/>
            <p:nvPr/>
          </p:nvSpPr>
          <p:spPr>
            <a:xfrm>
              <a:off x="3895574" y="2265520"/>
              <a:ext cx="182180" cy="19619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B4E4DC6-8171-E310-A562-04F16894D72E}"/>
                </a:ext>
              </a:extLst>
            </p:cNvPr>
            <p:cNvSpPr/>
            <p:nvPr/>
          </p:nvSpPr>
          <p:spPr>
            <a:xfrm>
              <a:off x="3646725" y="1837260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DCD23E64-C502-4DA0-8A7C-36AAA662F404}"/>
                </a:ext>
              </a:extLst>
            </p:cNvPr>
            <p:cNvSpPr/>
            <p:nvPr/>
          </p:nvSpPr>
          <p:spPr>
            <a:xfrm>
              <a:off x="3042207" y="1593600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5A52DF87-44F2-F59B-9263-E4C63562029C}"/>
                </a:ext>
              </a:extLst>
            </p:cNvPr>
            <p:cNvSpPr/>
            <p:nvPr/>
          </p:nvSpPr>
          <p:spPr>
            <a:xfrm>
              <a:off x="2845685" y="1739162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ED3F2D10-28EB-D595-AC29-988288125043}"/>
                </a:ext>
              </a:extLst>
            </p:cNvPr>
            <p:cNvSpPr/>
            <p:nvPr/>
          </p:nvSpPr>
          <p:spPr>
            <a:xfrm>
              <a:off x="2627582" y="2027330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B74AAF37-AE47-84F3-F406-2AAEB93A3934}"/>
                </a:ext>
              </a:extLst>
            </p:cNvPr>
            <p:cNvSpPr/>
            <p:nvPr/>
          </p:nvSpPr>
          <p:spPr>
            <a:xfrm>
              <a:off x="2512931" y="2235676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99A7891-C389-23B7-608A-0A1280699FC9}"/>
                </a:ext>
              </a:extLst>
            </p:cNvPr>
            <p:cNvSpPr/>
            <p:nvPr/>
          </p:nvSpPr>
          <p:spPr>
            <a:xfrm>
              <a:off x="2386043" y="2441460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050D0F8D-BF82-8073-437C-C8CCC014B419}"/>
                </a:ext>
              </a:extLst>
            </p:cNvPr>
            <p:cNvSpPr/>
            <p:nvPr/>
          </p:nvSpPr>
          <p:spPr>
            <a:xfrm>
              <a:off x="2203863" y="2718390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E0495E4B-7BF9-EEE5-43A3-58A2F3EE4F24}"/>
                </a:ext>
              </a:extLst>
            </p:cNvPr>
            <p:cNvSpPr/>
            <p:nvPr/>
          </p:nvSpPr>
          <p:spPr>
            <a:xfrm>
              <a:off x="2051734" y="3006309"/>
              <a:ext cx="182180" cy="19619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269DBE94-E131-7BBE-8C06-0366652376B5}"/>
                </a:ext>
              </a:extLst>
            </p:cNvPr>
            <p:cNvSpPr/>
            <p:nvPr/>
          </p:nvSpPr>
          <p:spPr>
            <a:xfrm>
              <a:off x="1616339" y="4000469"/>
              <a:ext cx="182180" cy="19619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0D87B8A4-8ECC-7237-6DBE-0BCFF30459D9}"/>
                </a:ext>
              </a:extLst>
            </p:cNvPr>
            <p:cNvSpPr/>
            <p:nvPr/>
          </p:nvSpPr>
          <p:spPr>
            <a:xfrm>
              <a:off x="1919114" y="3300246"/>
              <a:ext cx="182180" cy="19619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F683F938-5FD4-00BD-3683-A589E3CE61AC}"/>
                </a:ext>
              </a:extLst>
            </p:cNvPr>
            <p:cNvSpPr/>
            <p:nvPr/>
          </p:nvSpPr>
          <p:spPr>
            <a:xfrm>
              <a:off x="1760646" y="3653676"/>
              <a:ext cx="182180" cy="19619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EA03560C-5A4A-DBB0-FAAB-C10FDE5410DB}"/>
                </a:ext>
              </a:extLst>
            </p:cNvPr>
            <p:cNvSpPr/>
            <p:nvPr/>
          </p:nvSpPr>
          <p:spPr>
            <a:xfrm>
              <a:off x="1845149" y="3468018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BD897A4C-60C9-2BA9-20A6-41AA0F9D7290}"/>
                </a:ext>
              </a:extLst>
            </p:cNvPr>
            <p:cNvSpPr/>
            <p:nvPr/>
          </p:nvSpPr>
          <p:spPr>
            <a:xfrm>
              <a:off x="1700842" y="3807866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E30C190F-1E7B-668C-1403-2EC6A1553B73}"/>
                </a:ext>
              </a:extLst>
            </p:cNvPr>
            <p:cNvSpPr/>
            <p:nvPr/>
          </p:nvSpPr>
          <p:spPr>
            <a:xfrm>
              <a:off x="1042047" y="5414702"/>
              <a:ext cx="182180" cy="19619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50366DD5-499F-B8E1-FB96-BDE94BAEAC89}"/>
                </a:ext>
              </a:extLst>
            </p:cNvPr>
            <p:cNvSpPr/>
            <p:nvPr/>
          </p:nvSpPr>
          <p:spPr>
            <a:xfrm>
              <a:off x="1117679" y="5277754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9D1416FC-2729-A8F6-6E3E-84AE027384F8}"/>
                </a:ext>
              </a:extLst>
            </p:cNvPr>
            <p:cNvSpPr/>
            <p:nvPr/>
          </p:nvSpPr>
          <p:spPr>
            <a:xfrm>
              <a:off x="1172179" y="5134482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FAFE41AB-26C1-19C6-2E50-A8D3A36B8E28}"/>
                </a:ext>
              </a:extLst>
            </p:cNvPr>
            <p:cNvSpPr/>
            <p:nvPr/>
          </p:nvSpPr>
          <p:spPr>
            <a:xfrm>
              <a:off x="1240219" y="5006709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Овал 49">
              <a:extLst>
                <a:ext uri="{FF2B5EF4-FFF2-40B4-BE49-F238E27FC236}">
                  <a16:creationId xmlns:a16="http://schemas.microsoft.com/office/drawing/2014/main" id="{2A237573-5AAF-4323-21A5-2093D9C6F1D2}"/>
                </a:ext>
              </a:extLst>
            </p:cNvPr>
            <p:cNvSpPr/>
            <p:nvPr/>
          </p:nvSpPr>
          <p:spPr>
            <a:xfrm>
              <a:off x="1296658" y="4787918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Овал 50">
              <a:extLst>
                <a:ext uri="{FF2B5EF4-FFF2-40B4-BE49-F238E27FC236}">
                  <a16:creationId xmlns:a16="http://schemas.microsoft.com/office/drawing/2014/main" id="{85473B67-5164-7176-7E42-6CD0F92F9A52}"/>
                </a:ext>
              </a:extLst>
            </p:cNvPr>
            <p:cNvSpPr/>
            <p:nvPr/>
          </p:nvSpPr>
          <p:spPr>
            <a:xfrm>
              <a:off x="1354359" y="4688264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Овал 51">
              <a:extLst>
                <a:ext uri="{FF2B5EF4-FFF2-40B4-BE49-F238E27FC236}">
                  <a16:creationId xmlns:a16="http://schemas.microsoft.com/office/drawing/2014/main" id="{F3022C36-F7D8-2D3B-1DCD-76CE720992CF}"/>
                </a:ext>
              </a:extLst>
            </p:cNvPr>
            <p:cNvSpPr/>
            <p:nvPr/>
          </p:nvSpPr>
          <p:spPr>
            <a:xfrm>
              <a:off x="1395642" y="4549158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id="{9CD9FE28-CA40-C2F9-41F2-9851DA3820AA}"/>
                </a:ext>
              </a:extLst>
            </p:cNvPr>
            <p:cNvSpPr/>
            <p:nvPr/>
          </p:nvSpPr>
          <p:spPr>
            <a:xfrm>
              <a:off x="1452863" y="4443889"/>
              <a:ext cx="182180" cy="19619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id="{49EFCF56-5761-4A52-FF96-98441F9393E6}"/>
                </a:ext>
              </a:extLst>
            </p:cNvPr>
            <p:cNvSpPr/>
            <p:nvPr/>
          </p:nvSpPr>
          <p:spPr>
            <a:xfrm>
              <a:off x="1510085" y="4304784"/>
              <a:ext cx="182180" cy="19619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Овал 54">
              <a:extLst>
                <a:ext uri="{FF2B5EF4-FFF2-40B4-BE49-F238E27FC236}">
                  <a16:creationId xmlns:a16="http://schemas.microsoft.com/office/drawing/2014/main" id="{470F5AAE-77C6-426B-3A6A-4FD9A7A711DF}"/>
                </a:ext>
              </a:extLst>
            </p:cNvPr>
            <p:cNvSpPr/>
            <p:nvPr/>
          </p:nvSpPr>
          <p:spPr>
            <a:xfrm>
              <a:off x="1558721" y="4168173"/>
              <a:ext cx="182180" cy="19619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C974005-881E-5120-897C-2C30806347EF}"/>
                </a:ext>
              </a:extLst>
            </p:cNvPr>
            <p:cNvSpPr txBox="1"/>
            <p:nvPr/>
          </p:nvSpPr>
          <p:spPr>
            <a:xfrm>
              <a:off x="4026398" y="2183319"/>
              <a:ext cx="1609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Экосистемы облачных данных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A9FB89-D3BF-F9A9-FAC6-ECAD2AADFB91}"/>
                </a:ext>
              </a:extLst>
            </p:cNvPr>
            <p:cNvSpPr txBox="1"/>
            <p:nvPr/>
          </p:nvSpPr>
          <p:spPr>
            <a:xfrm>
              <a:off x="3908187" y="1988980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NFT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09FF0FE-B974-B3E6-0499-C165E72F96AB}"/>
                </a:ext>
              </a:extLst>
            </p:cNvPr>
            <p:cNvSpPr txBox="1"/>
            <p:nvPr/>
          </p:nvSpPr>
          <p:spPr>
            <a:xfrm>
              <a:off x="3798433" y="1673739"/>
              <a:ext cx="1609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Централизованная идентификация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8C3B763-3850-40B3-9B04-2DF2BE863D96}"/>
                </a:ext>
              </a:extLst>
            </p:cNvPr>
            <p:cNvSpPr txBox="1"/>
            <p:nvPr/>
          </p:nvSpPr>
          <p:spPr>
            <a:xfrm>
              <a:off x="1523682" y="1455032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Модели фундамента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43C10F-D973-C042-F0FA-D72F0B39EC25}"/>
                </a:ext>
              </a:extLst>
            </p:cNvPr>
            <p:cNvSpPr txBox="1"/>
            <p:nvPr/>
          </p:nvSpPr>
          <p:spPr>
            <a:xfrm>
              <a:off x="1294275" y="1670397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WEB3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B3258BA-D3F0-22BE-0888-E196844D2E30}"/>
                </a:ext>
              </a:extLst>
            </p:cNvPr>
            <p:cNvSpPr txBox="1"/>
            <p:nvPr/>
          </p:nvSpPr>
          <p:spPr>
            <a:xfrm>
              <a:off x="1147483" y="1857668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Вычислительное хранилище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4D11978-F2CC-A9BB-F82A-0FB0C1D09108}"/>
                </a:ext>
              </a:extLst>
            </p:cNvPr>
            <p:cNvSpPr txBox="1"/>
            <p:nvPr/>
          </p:nvSpPr>
          <p:spPr>
            <a:xfrm>
              <a:off x="1258458" y="2183319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Приложения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7CD47DF-DE61-9484-085E-9B19709482FC}"/>
                </a:ext>
              </a:extLst>
            </p:cNvPr>
            <p:cNvSpPr txBox="1"/>
            <p:nvPr/>
          </p:nvSpPr>
          <p:spPr>
            <a:xfrm>
              <a:off x="852149" y="2328728"/>
              <a:ext cx="1609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Отраслевые облачные платформы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C24B476-383C-5C33-338B-98A091F051E5}"/>
                </a:ext>
              </a:extLst>
            </p:cNvPr>
            <p:cNvSpPr txBox="1"/>
            <p:nvPr/>
          </p:nvSpPr>
          <p:spPr>
            <a:xfrm>
              <a:off x="674030" y="2641099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Внутренние рынки талантов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4E814BB-C826-0A68-73FF-F35596DB9BD4}"/>
                </a:ext>
              </a:extLst>
            </p:cNvPr>
            <p:cNvSpPr txBox="1"/>
            <p:nvPr/>
          </p:nvSpPr>
          <p:spPr>
            <a:xfrm>
              <a:off x="1936238" y="2977623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Цифровые люди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146F836-A54E-D723-1D8C-BFA6F8927B32}"/>
                </a:ext>
              </a:extLst>
            </p:cNvPr>
            <p:cNvSpPr txBox="1"/>
            <p:nvPr/>
          </p:nvSpPr>
          <p:spPr>
            <a:xfrm>
              <a:off x="2063265" y="3202317"/>
              <a:ext cx="1609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Динамическое управление рисками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CFF0B45-44BC-848A-52DE-F86D6B39852E}"/>
                </a:ext>
              </a:extLst>
            </p:cNvPr>
            <p:cNvSpPr txBox="1"/>
            <p:nvPr/>
          </p:nvSpPr>
          <p:spPr>
            <a:xfrm>
              <a:off x="1955531" y="3471134"/>
              <a:ext cx="1609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Ориентир на наблюдательность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0220FFE-9E7C-B4FA-4F30-EC6858E523EB}"/>
                </a:ext>
              </a:extLst>
            </p:cNvPr>
            <p:cNvSpPr txBox="1"/>
            <p:nvPr/>
          </p:nvSpPr>
          <p:spPr>
            <a:xfrm>
              <a:off x="1881562" y="3706741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Разработка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56676DE-CE7B-5919-0261-27CD368F2E01}"/>
                </a:ext>
              </a:extLst>
            </p:cNvPr>
            <p:cNvSpPr txBox="1"/>
            <p:nvPr/>
          </p:nvSpPr>
          <p:spPr>
            <a:xfrm>
              <a:off x="1811135" y="3843582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Устойчивость облака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C070842-3C01-8E83-7BEE-B8BDF0BDF164}"/>
                </a:ext>
              </a:extLst>
            </p:cNvPr>
            <p:cNvSpPr txBox="1"/>
            <p:nvPr/>
          </p:nvSpPr>
          <p:spPr>
            <a:xfrm>
              <a:off x="1729375" y="4003883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Метавселенная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A3D6C99-6432-673B-6654-AB20CD9F3BD5}"/>
                </a:ext>
              </a:extLst>
            </p:cNvPr>
            <p:cNvSpPr txBox="1"/>
            <p:nvPr/>
          </p:nvSpPr>
          <p:spPr>
            <a:xfrm>
              <a:off x="1680801" y="4172448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Разработка платформ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0DD7B13-0FAD-BF2D-2042-9BDF90D18386}"/>
                </a:ext>
              </a:extLst>
            </p:cNvPr>
            <p:cNvSpPr txBox="1"/>
            <p:nvPr/>
          </p:nvSpPr>
          <p:spPr>
            <a:xfrm>
              <a:off x="1635043" y="4310896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Причинный 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AI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0584EA3-3550-B1FF-1DA1-E3B374A01C9E}"/>
                </a:ext>
              </a:extLst>
            </p:cNvPr>
            <p:cNvSpPr txBox="1"/>
            <p:nvPr/>
          </p:nvSpPr>
          <p:spPr>
            <a:xfrm>
              <a:off x="1558721" y="4453223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Открытая </a:t>
              </a:r>
              <a:r>
                <a:rPr lang="ru-RU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телематерия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D4DD295-1D05-0A18-6E43-076F97E6CAD8}"/>
                </a:ext>
              </a:extLst>
            </p:cNvPr>
            <p:cNvSpPr txBox="1"/>
            <p:nvPr/>
          </p:nvSpPr>
          <p:spPr>
            <a:xfrm>
              <a:off x="1490145" y="4569515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Расширенные 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FinOps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D86AA0-B7EB-F6E5-79A7-91CBA024135F}"/>
                </a:ext>
              </a:extLst>
            </p:cNvPr>
            <p:cNvSpPr txBox="1"/>
            <p:nvPr/>
          </p:nvSpPr>
          <p:spPr>
            <a:xfrm>
              <a:off x="1478837" y="4696921"/>
              <a:ext cx="16096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MV </a:t>
              </a:r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архитектура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92B85EF-D2A2-A8FA-FEE1-E2078E79D478}"/>
                </a:ext>
              </a:extLst>
            </p:cNvPr>
            <p:cNvSpPr txBox="1"/>
            <p:nvPr/>
          </p:nvSpPr>
          <p:spPr>
            <a:xfrm>
              <a:off x="1374264" y="4820032"/>
              <a:ext cx="204648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Цифровой двойник клиента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F3186AB-751A-FAF3-47DA-6AF20252B951}"/>
                </a:ext>
              </a:extLst>
            </p:cNvPr>
            <p:cNvSpPr txBox="1"/>
            <p:nvPr/>
          </p:nvSpPr>
          <p:spPr>
            <a:xfrm>
              <a:off x="1340284" y="4980501"/>
              <a:ext cx="204648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Машинное обучение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6ED2261-1E5F-58A1-AB12-79641EB0D5F0}"/>
                </a:ext>
              </a:extLst>
            </p:cNvPr>
            <p:cNvSpPr txBox="1"/>
            <p:nvPr/>
          </p:nvSpPr>
          <p:spPr>
            <a:xfrm>
              <a:off x="1292822" y="5098484"/>
              <a:ext cx="204648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Генеративный дизайн 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AI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947F7EE-6890-089D-7B19-FCFE5DF7FB42}"/>
                </a:ext>
              </a:extLst>
            </p:cNvPr>
            <p:cNvSpPr txBox="1"/>
            <p:nvPr/>
          </p:nvSpPr>
          <p:spPr>
            <a:xfrm>
              <a:off x="1231584" y="5219148"/>
              <a:ext cx="204648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Автономные системы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6F9E17-F906-6785-B760-17104BA6F859}"/>
                </a:ext>
              </a:extLst>
            </p:cNvPr>
            <p:cNvSpPr txBox="1"/>
            <p:nvPr/>
          </p:nvSpPr>
          <p:spPr>
            <a:xfrm>
              <a:off x="1203299" y="5324522"/>
              <a:ext cx="204648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800" dirty="0">
                  <a:latin typeface="Arial" panose="020B0604020202020204" pitchFamily="34" charset="0"/>
                  <a:cs typeface="Arial" panose="020B0604020202020204" pitchFamily="34" charset="0"/>
                </a:rPr>
                <a:t>Архитектура </a:t>
              </a:r>
              <a:r>
                <a:rPr lang="ru-RU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кибербезопосности</a:t>
              </a:r>
              <a:endParaRPr lang="ru-RU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DFF6D8-1298-CAE9-DC2F-C40205C6E8D5}"/>
              </a:ext>
            </a:extLst>
          </p:cNvPr>
          <p:cNvSpPr txBox="1"/>
          <p:nvPr/>
        </p:nvSpPr>
        <p:spPr>
          <a:xfrm>
            <a:off x="6423695" y="477145"/>
            <a:ext cx="54407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b="1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 cycle </a:t>
            </a:r>
            <a:r>
              <a:rPr lang="ru-RU" sz="24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это </a:t>
            </a:r>
            <a:r>
              <a:rPr lang="ru-RU" sz="24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графическое отображение проникновения, адаптации и социального влияния специфических технологий</a:t>
            </a:r>
            <a:r>
              <a:rPr lang="ru-RU" sz="24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3523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46C3B6-1CE0-B017-9531-D8C213077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675" y="1533997"/>
            <a:ext cx="5776507" cy="42545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B852E0-B74F-28D7-93CD-1B52A9D4810F}"/>
              </a:ext>
            </a:extLst>
          </p:cNvPr>
          <p:cNvSpPr txBox="1"/>
          <p:nvPr/>
        </p:nvSpPr>
        <p:spPr>
          <a:xfrm>
            <a:off x="349858" y="243840"/>
            <a:ext cx="680987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500" b="1" dirty="0">
                <a:latin typeface="Arial" panose="020B0604020202020204" pitchFamily="34" charset="0"/>
                <a:cs typeface="Arial" panose="020B0604020202020204" pitchFamily="34" charset="0"/>
                <a:sym typeface="Poppins"/>
              </a:rPr>
              <a:t>Где узнавать об изменениях?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724ED6-373A-9EBA-CD83-F94094E43E5D}"/>
              </a:ext>
            </a:extLst>
          </p:cNvPr>
          <p:cNvSpPr txBox="1"/>
          <p:nvPr/>
        </p:nvSpPr>
        <p:spPr>
          <a:xfrm>
            <a:off x="626486" y="1671820"/>
            <a:ext cx="6063215" cy="3786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67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Гартнер</a:t>
            </a:r>
            <a:endParaRPr lang="ru-RU" sz="266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67" dirty="0"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Новости</a:t>
            </a:r>
            <a:endParaRPr lang="ru-RU" sz="266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67" dirty="0">
                <a:latin typeface="Arial" panose="020B0604020202020204" pitchFamily="34" charset="0"/>
                <a:cs typeface="Arial" panose="020B0604020202020204" pitchFamily="34" charset="0"/>
              </a:rPr>
              <a:t>Исследования (</a:t>
            </a: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Statista</a:t>
            </a: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" sz="2667" dirty="0"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Eurostat</a:t>
            </a:r>
            <a:r>
              <a:rPr lang="en" sz="2667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" sz="2667" dirty="0"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Undata</a:t>
            </a:r>
            <a:r>
              <a:rPr lang="en" sz="2667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" sz="2667" dirty="0">
                <a:latin typeface="Arial" panose="020B0604020202020204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WorldBank Data,</a:t>
            </a:r>
            <a:r>
              <a:rPr lang="en" sz="26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sz="2667" dirty="0">
                <a:latin typeface="Arial" panose="020B0604020202020204" pitchFamily="34" charset="0"/>
                <a:cs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Dataset Search</a:t>
            </a:r>
            <a:r>
              <a:rPr lang="ru-RU" sz="2667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Exploding Topics</a:t>
            </a:r>
            <a:endParaRPr lang="en-US" sz="266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67" dirty="0">
                <a:latin typeface="Arial" panose="020B0604020202020204" pitchFamily="34" charset="0"/>
                <a:cs typeface="Arial" panose="020B0604020202020204" pitchFamily="34" charset="0"/>
              </a:rPr>
              <a:t>Анализировать </a:t>
            </a:r>
            <a:r>
              <a:rPr lang="ru-RU" sz="2667" dirty="0">
                <a:latin typeface="Arial" panose="020B0604020202020204" pitchFamily="34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стартапы,</a:t>
            </a:r>
            <a:r>
              <a:rPr lang="ru-RU" sz="2667" dirty="0">
                <a:latin typeface="Arial" panose="020B0604020202020204" pitchFamily="34" charset="0"/>
                <a:cs typeface="Arial" panose="020B0604020202020204" pitchFamily="34" charset="0"/>
              </a:rPr>
              <a:t> привлекшие инвестиции </a:t>
            </a: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67" dirty="0" err="1">
                <a:latin typeface="Arial" panose="020B0604020202020204" pitchFamily="34" charset="0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FastFounder</a:t>
            </a:r>
            <a:r>
              <a:rPr lang="en-US" sz="2667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6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71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1"/>
          <p:cNvSpPr txBox="1">
            <a:spLocks noGrp="1"/>
          </p:cNvSpPr>
          <p:nvPr>
            <p:ph type="title"/>
          </p:nvPr>
        </p:nvSpPr>
        <p:spPr>
          <a:xfrm>
            <a:off x="398600" y="730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b="1"/>
              <a:t>Продление жизненного цикла</a:t>
            </a:r>
            <a:endParaRPr/>
          </a:p>
        </p:txBody>
      </p:sp>
      <p:grpSp>
        <p:nvGrpSpPr>
          <p:cNvPr id="981" name="Google Shape;981;p61"/>
          <p:cNvGrpSpPr/>
          <p:nvPr/>
        </p:nvGrpSpPr>
        <p:grpSpPr>
          <a:xfrm>
            <a:off x="1079250" y="1345011"/>
            <a:ext cx="7106164" cy="4826085"/>
            <a:chOff x="158" y="348696"/>
            <a:chExt cx="7106164" cy="4826085"/>
          </a:xfrm>
        </p:grpSpPr>
        <p:sp>
          <p:nvSpPr>
            <p:cNvPr id="982" name="Google Shape;982;p61"/>
            <p:cNvSpPr/>
            <p:nvPr/>
          </p:nvSpPr>
          <p:spPr>
            <a:xfrm>
              <a:off x="567932" y="2761739"/>
              <a:ext cx="372460" cy="212915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19050" cap="flat" cmpd="sng">
              <a:solidFill>
                <a:srgbClr val="104A6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1"/>
            <p:cNvSpPr txBox="1"/>
            <p:nvPr/>
          </p:nvSpPr>
          <p:spPr>
            <a:xfrm>
              <a:off x="700125" y="3772280"/>
              <a:ext cx="108074" cy="1080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Arial"/>
                <a:buNone/>
              </a:pPr>
              <a:endPara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61"/>
            <p:cNvSpPr/>
            <p:nvPr/>
          </p:nvSpPr>
          <p:spPr>
            <a:xfrm>
              <a:off x="567932" y="2761739"/>
              <a:ext cx="372460" cy="14194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19050" cap="flat" cmpd="sng">
              <a:solidFill>
                <a:srgbClr val="104A6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1"/>
            <p:cNvSpPr txBox="1"/>
            <p:nvPr/>
          </p:nvSpPr>
          <p:spPr>
            <a:xfrm>
              <a:off x="717475" y="3434770"/>
              <a:ext cx="73374" cy="7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1"/>
            <p:cNvSpPr/>
            <p:nvPr/>
          </p:nvSpPr>
          <p:spPr>
            <a:xfrm>
              <a:off x="567932" y="2761739"/>
              <a:ext cx="372460" cy="70971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w="19050" cap="flat" cmpd="sng">
              <a:solidFill>
                <a:srgbClr val="104A6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1"/>
            <p:cNvSpPr txBox="1"/>
            <p:nvPr/>
          </p:nvSpPr>
          <p:spPr>
            <a:xfrm>
              <a:off x="734124" y="3096560"/>
              <a:ext cx="40075" cy="4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1"/>
            <p:cNvSpPr/>
            <p:nvPr/>
          </p:nvSpPr>
          <p:spPr>
            <a:xfrm>
              <a:off x="567932" y="2716019"/>
              <a:ext cx="372460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19050" cap="flat" cmpd="sng">
              <a:solidFill>
                <a:srgbClr val="104A6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1"/>
            <p:cNvSpPr txBox="1"/>
            <p:nvPr/>
          </p:nvSpPr>
          <p:spPr>
            <a:xfrm>
              <a:off x="744850" y="2752427"/>
              <a:ext cx="18623" cy="18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61"/>
            <p:cNvSpPr/>
            <p:nvPr/>
          </p:nvSpPr>
          <p:spPr>
            <a:xfrm>
              <a:off x="567932" y="2052020"/>
              <a:ext cx="372460" cy="70971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19050" cap="flat" cmpd="sng">
              <a:solidFill>
                <a:srgbClr val="104A6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1"/>
            <p:cNvSpPr txBox="1"/>
            <p:nvPr/>
          </p:nvSpPr>
          <p:spPr>
            <a:xfrm>
              <a:off x="734124" y="2386842"/>
              <a:ext cx="40075" cy="4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1"/>
            <p:cNvSpPr/>
            <p:nvPr/>
          </p:nvSpPr>
          <p:spPr>
            <a:xfrm>
              <a:off x="567932" y="1342302"/>
              <a:ext cx="372460" cy="14194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19050" cap="flat" cmpd="sng">
              <a:solidFill>
                <a:srgbClr val="104A6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1"/>
            <p:cNvSpPr txBox="1"/>
            <p:nvPr/>
          </p:nvSpPr>
          <p:spPr>
            <a:xfrm>
              <a:off x="717475" y="2015333"/>
              <a:ext cx="73374" cy="7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1"/>
            <p:cNvSpPr/>
            <p:nvPr/>
          </p:nvSpPr>
          <p:spPr>
            <a:xfrm>
              <a:off x="567932" y="632583"/>
              <a:ext cx="372460" cy="212915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w="19050" cap="flat" cmpd="sng">
              <a:solidFill>
                <a:srgbClr val="104A6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1"/>
            <p:cNvSpPr txBox="1"/>
            <p:nvPr/>
          </p:nvSpPr>
          <p:spPr>
            <a:xfrm>
              <a:off x="700125" y="1643124"/>
              <a:ext cx="108074" cy="1080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Arial"/>
                <a:buNone/>
              </a:pPr>
              <a:endPara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61"/>
            <p:cNvSpPr/>
            <p:nvPr/>
          </p:nvSpPr>
          <p:spPr>
            <a:xfrm rot="-5400000">
              <a:off x="-1921999" y="2477852"/>
              <a:ext cx="4412088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1"/>
            <p:cNvSpPr txBox="1"/>
            <p:nvPr/>
          </p:nvSpPr>
          <p:spPr>
            <a:xfrm rot="-5400000">
              <a:off x="-1921999" y="2477852"/>
              <a:ext cx="4412088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50" tIns="12050" rIns="12050" bIns="12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ru-RU" sz="1900" b="1" i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Продлить жизненный цикл продукта</a:t>
              </a:r>
              <a:endParaRPr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1"/>
            <p:cNvSpPr/>
            <p:nvPr/>
          </p:nvSpPr>
          <p:spPr>
            <a:xfrm>
              <a:off x="940392" y="348696"/>
              <a:ext cx="4005847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1"/>
            <p:cNvSpPr txBox="1"/>
            <p:nvPr/>
          </p:nvSpPr>
          <p:spPr>
            <a:xfrm>
              <a:off x="940392" y="348696"/>
              <a:ext cx="4005847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ru-RU" sz="1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Улучшение характеристик продукта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61"/>
            <p:cNvSpPr/>
            <p:nvPr/>
          </p:nvSpPr>
          <p:spPr>
            <a:xfrm>
              <a:off x="940392" y="1058415"/>
              <a:ext cx="3798685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1"/>
            <p:cNvSpPr txBox="1"/>
            <p:nvPr/>
          </p:nvSpPr>
          <p:spPr>
            <a:xfrm>
              <a:off x="940392" y="1058415"/>
              <a:ext cx="3798685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ru-RU" sz="1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Расширение ассортимента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61"/>
            <p:cNvSpPr/>
            <p:nvPr/>
          </p:nvSpPr>
          <p:spPr>
            <a:xfrm>
              <a:off x="940392" y="1768133"/>
              <a:ext cx="4137046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1"/>
            <p:cNvSpPr txBox="1"/>
            <p:nvPr/>
          </p:nvSpPr>
          <p:spPr>
            <a:xfrm>
              <a:off x="940392" y="1768133"/>
              <a:ext cx="4137046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ru-RU" sz="1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Повышение лояльности клиентов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61"/>
            <p:cNvSpPr/>
            <p:nvPr/>
          </p:nvSpPr>
          <p:spPr>
            <a:xfrm>
              <a:off x="940392" y="2477852"/>
              <a:ext cx="4183399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1"/>
            <p:cNvSpPr txBox="1"/>
            <p:nvPr/>
          </p:nvSpPr>
          <p:spPr>
            <a:xfrm>
              <a:off x="940392" y="2477852"/>
              <a:ext cx="4183399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ru-RU" sz="1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Развитие бренда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1"/>
            <p:cNvSpPr/>
            <p:nvPr/>
          </p:nvSpPr>
          <p:spPr>
            <a:xfrm>
              <a:off x="940392" y="3187570"/>
              <a:ext cx="6165930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61"/>
            <p:cNvSpPr txBox="1"/>
            <p:nvPr/>
          </p:nvSpPr>
          <p:spPr>
            <a:xfrm>
              <a:off x="940392" y="3187570"/>
              <a:ext cx="6165930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ru-RU" sz="1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Перенос акцента на экологичность и устойчивость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61"/>
            <p:cNvSpPr/>
            <p:nvPr/>
          </p:nvSpPr>
          <p:spPr>
            <a:xfrm>
              <a:off x="940392" y="3897289"/>
              <a:ext cx="4251261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61"/>
            <p:cNvSpPr txBox="1"/>
            <p:nvPr/>
          </p:nvSpPr>
          <p:spPr>
            <a:xfrm>
              <a:off x="940392" y="3897289"/>
              <a:ext cx="4251261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50" tIns="8250" rIns="8250" bIns="8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ru-RU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Целевое сегментирование рынка</a:t>
              </a:r>
              <a:endPara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61"/>
            <p:cNvSpPr/>
            <p:nvPr/>
          </p:nvSpPr>
          <p:spPr>
            <a:xfrm>
              <a:off x="940392" y="4607007"/>
              <a:ext cx="4040877" cy="567774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1"/>
            <p:cNvSpPr txBox="1"/>
            <p:nvPr/>
          </p:nvSpPr>
          <p:spPr>
            <a:xfrm>
              <a:off x="940392" y="4607007"/>
              <a:ext cx="4040877" cy="5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50" tIns="8250" rIns="8250" bIns="8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ru-RU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Интеграция цифровых технологий</a:t>
              </a:r>
              <a:endPara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" name="Google Shape;1012;p61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1"/>
          <p:cNvSpPr txBox="1"/>
          <p:nvPr/>
        </p:nvSpPr>
        <p:spPr>
          <a:xfrm>
            <a:off x="7309760" y="2574920"/>
            <a:ext cx="3604440" cy="17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Работать с изменениями рынка!!!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2"/>
          <p:cNvSpPr txBox="1"/>
          <p:nvPr/>
        </p:nvSpPr>
        <p:spPr>
          <a:xfrm>
            <a:off x="909612" y="1340109"/>
            <a:ext cx="103728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ru-RU" sz="25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Технологическое предпринимательство</a:t>
            </a:r>
            <a:r>
              <a:rPr lang="ru-RU" sz="25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- </a:t>
            </a:r>
            <a:endParaRPr sz="2500" b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ru-RU" sz="25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это инвестирование финансовых, интеллектуальных и человеческих ресурсов в специфические активы (новые физические или программные продукты), основанные на актуальных достижениях и знаниях в областях науки и техники (knowledge-intensive идеях).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ru-RU" sz="25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Эти активы создаются с целью повышения максимальной стоимости и эффективности работы компании или предприятия.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2"/>
          <p:cNvSpPr txBox="1"/>
          <p:nvPr/>
        </p:nvSpPr>
        <p:spPr>
          <a:xfrm>
            <a:off x="175532" y="6494894"/>
            <a:ext cx="124301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*https://hsbi.hse.ru/articles/tekhnologicheskoe-predprinimatelstvo-i-startapy/#:~:text=Одним%20из%20направлений%20этой%20деятельности,%2C%20e%2Dcommerce%20и%20финтеха.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2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f9e43925ec_1_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8" name="Google Shape;1028;g3f9e43925ec_1_0"/>
          <p:cNvGraphicFramePr/>
          <p:nvPr/>
        </p:nvGraphicFramePr>
        <p:xfrm>
          <a:off x="952500" y="1491400"/>
          <a:ext cx="10287000" cy="3946761"/>
        </p:xfrm>
        <a:graphic>
          <a:graphicData uri="http://schemas.openxmlformats.org/drawingml/2006/table">
            <a:tbl>
              <a:tblPr>
                <a:noFill/>
                <a:tableStyleId>{4A836E94-B30E-424F-8183-7C414093E04C}</a:tableStyleId>
              </a:tblPr>
              <a:tblGrid>
                <a:gridCol w="218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/>
                        <a:t>Классическое предпринимательство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/>
                        <a:t>Технологическое предпринимательство</a:t>
                      </a:r>
                      <a:endParaRPr sz="16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b="1">
                          <a:solidFill>
                            <a:schemeClr val="dk1"/>
                          </a:solidFill>
                        </a:rPr>
                        <a:t>Основа бизнеса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Проверенная модель (купи-продай услугу)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Инновационный продукт или технология (R&amp;D)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b="1">
                          <a:solidFill>
                            <a:schemeClr val="dk1"/>
                          </a:solidFill>
                        </a:rPr>
                        <a:t>Главный актив</a:t>
                      </a:r>
                      <a:r>
                        <a:rPr lang="ru-RU" sz="1600">
                          <a:solidFill>
                            <a:schemeClr val="dk1"/>
                          </a:solidFill>
                        </a:rPr>
                        <a:t> 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Оборудование, персонал, локация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Интеллектуальная собственность (IP), код, патенты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b="1">
                          <a:solidFill>
                            <a:schemeClr val="dk1"/>
                          </a:solidFill>
                        </a:rPr>
                        <a:t>Масштабируемость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Линейная (больше прибыли = больше сотрудников/точек)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Экспоненциальная (рост выручки почти без роста затрат)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b="1">
                          <a:solidFill>
                            <a:schemeClr val="dk1"/>
                          </a:solidFill>
                        </a:rPr>
                        <a:t>Риски</a:t>
                      </a:r>
                      <a:endParaRPr sz="160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Рыночные (есть ли спрос на этот товар?)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Технологические + Рыночные (сработает ли технология?)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b="1">
                          <a:solidFill>
                            <a:schemeClr val="dk1"/>
                          </a:solidFill>
                        </a:rPr>
                        <a:t>Цикл окупаемости</a:t>
                      </a:r>
                      <a:r>
                        <a:rPr lang="ru-RU" sz="1600">
                          <a:solidFill>
                            <a:schemeClr val="dk1"/>
                          </a:solidFill>
                        </a:rPr>
                        <a:t> 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Короткий (с первых месяцев/лет)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Длинный (сначала инвестиции в разработку)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 b="1">
                          <a:solidFill>
                            <a:schemeClr val="dk1"/>
                          </a:solidFill>
                        </a:rPr>
                        <a:t>Модель роста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Постепенное расширение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“Взрывной” рост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7"/>
          <p:cNvSpPr txBox="1">
            <a:spLocks noGrp="1"/>
          </p:cNvSpPr>
          <p:nvPr>
            <p:ph type="title"/>
          </p:nvPr>
        </p:nvSpPr>
        <p:spPr>
          <a:xfrm>
            <a:off x="838200" y="24810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 b="1"/>
              <a:t>Дополнительный материал</a:t>
            </a:r>
            <a:endParaRPr/>
          </a:p>
        </p:txBody>
      </p:sp>
      <p:sp>
        <p:nvSpPr>
          <p:cNvPr id="1034" name="Google Shape;1034;p67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p67"/>
          <p:cNvCxnSpPr/>
          <p:nvPr/>
        </p:nvCxnSpPr>
        <p:spPr>
          <a:xfrm>
            <a:off x="914400" y="3806567"/>
            <a:ext cx="7315200" cy="0"/>
          </a:xfrm>
          <a:prstGeom prst="straightConnector1">
            <a:avLst/>
          </a:prstGeom>
          <a:noFill/>
          <a:ln w="28575" cap="flat" cmpd="sng">
            <a:solidFill>
              <a:srgbClr val="9CFB0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8"/>
          <p:cNvSpPr txBox="1"/>
          <p:nvPr/>
        </p:nvSpPr>
        <p:spPr>
          <a:xfrm>
            <a:off x="5751935" y="4374425"/>
            <a:ext cx="5888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Майкл Гудвин, Экономикс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Янис Варуфакис, Технофеодализм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1" name="Google Shape;1041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1510" y="1079775"/>
            <a:ext cx="3299225" cy="46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3747" y="1836800"/>
            <a:ext cx="2133600" cy="22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6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sz="15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99F8D-9A68-9761-74CA-33DDFFC6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ВТП 12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30F90E-31E9-D142-76D5-81430295F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C7BAFB-6B0A-E758-9C21-BAEB0FE7C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079" y="1400936"/>
            <a:ext cx="5088090" cy="508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938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48EC7-9E1D-6D76-1161-C71CA1BD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ВТП 13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18ED0B-C36D-A6F3-A92A-7309E9E6E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1124A4-2BF9-B8A9-2D81-89224F27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605" y="1324899"/>
            <a:ext cx="5081827" cy="508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724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C3684-89E3-2B2A-C800-6831C3FB7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ВТП 15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32157C-DF15-1CAF-C666-54BF1C6A0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27DE34-2F13-F164-6E50-DB2FB57E0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347" y="1309874"/>
            <a:ext cx="5073910" cy="507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04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5188</Words>
  <Application>Microsoft Macintosh PowerPoint</Application>
  <PresentationFormat>Широкоэкранный</PresentationFormat>
  <Paragraphs>849</Paragraphs>
  <Slides>72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85" baseType="lpstr">
      <vt:lpstr>Golos Text DemiBold</vt:lpstr>
      <vt:lpstr>Didact Gothic</vt:lpstr>
      <vt:lpstr>Spectral</vt:lpstr>
      <vt:lpstr>Arial</vt:lpstr>
      <vt:lpstr>Noto Sans Symbols</vt:lpstr>
      <vt:lpstr>Play</vt:lpstr>
      <vt:lpstr>Golos Text</vt:lpstr>
      <vt:lpstr>Google Sans</vt:lpstr>
      <vt:lpstr>Times New Roman</vt:lpstr>
      <vt:lpstr>Poppins</vt:lpstr>
      <vt:lpstr>Helvetica Neue</vt:lpstr>
      <vt:lpstr>Calibri</vt:lpstr>
      <vt:lpstr>Тема Office</vt:lpstr>
      <vt:lpstr> ВВЕДЕНИЕ В ТЕХНОЛОГИЧЕСКОЕ ПРЕДПРИНИМАТЕЛЬСТВО </vt:lpstr>
      <vt:lpstr>О преподавателе…</vt:lpstr>
      <vt:lpstr>Антипов Антон Александрович</vt:lpstr>
      <vt:lpstr>О дисциплине…</vt:lpstr>
      <vt:lpstr>Введение в технологическое предпринимательство</vt:lpstr>
      <vt:lpstr>Структура курса</vt:lpstr>
      <vt:lpstr>Структура курса</vt:lpstr>
      <vt:lpstr>Дисциплина разделена на…</vt:lpstr>
      <vt:lpstr>Организационные вопросы</vt:lpstr>
      <vt:lpstr>План лекции</vt:lpstr>
      <vt:lpstr>Рынок как пространство обмена</vt:lpstr>
      <vt:lpstr>КАКИЕ АССОЦИАЦИИ ВОЗНИКАЮТ У ВАС В СВЯЗИ С ПОНЯТИЕМ «РЫНОК»? </vt:lpstr>
      <vt:lpstr>Принципиальные отличия традиционного и современного бизнеса </vt:lpstr>
      <vt:lpstr>ПОЧЕМУ ВАЖНО ЗНАТЬ ЗАКОНЫ РЫНКА (ИЛИ НЕ ВАЖНО?)? </vt:lpstr>
      <vt:lpstr>КОНДРАТЬЕВСКИЕ ВОЛНЫ</vt:lpstr>
      <vt:lpstr>ЭКОНОМИЧЕСКИЕ ЦИКЛЫ. ВОЛНЫ КОНДРАТЬЕВА</vt:lpstr>
      <vt:lpstr>ТЕХНОЛОГИЧЕСКИЕ УКЛАДЫ</vt:lpstr>
      <vt:lpstr>Уровни экономики</vt:lpstr>
      <vt:lpstr>Уровни экономики</vt:lpstr>
      <vt:lpstr>Презентация PowerPoint</vt:lpstr>
      <vt:lpstr>Типы экономических агентов</vt:lpstr>
      <vt:lpstr>Распределение денежных потоков</vt:lpstr>
      <vt:lpstr>Презентация PowerPoint</vt:lpstr>
      <vt:lpstr>Презентация PowerPoint</vt:lpstr>
      <vt:lpstr>Презентация PowerPoint</vt:lpstr>
      <vt:lpstr>Презентация PowerPoint</vt:lpstr>
      <vt:lpstr>Функции рынка</vt:lpstr>
      <vt:lpstr>Спрос и предложение</vt:lpstr>
      <vt:lpstr>Спрос</vt:lpstr>
      <vt:lpstr>Факторы меняющие спрос</vt:lpstr>
      <vt:lpstr>Презентация PowerPoint</vt:lpstr>
      <vt:lpstr>Презентация PowerPoint</vt:lpstr>
      <vt:lpstr>Презентация PowerPoint</vt:lpstr>
      <vt:lpstr>Спрос</vt:lpstr>
      <vt:lpstr>Презентация PowerPoint</vt:lpstr>
      <vt:lpstr>Эффект Веблена</vt:lpstr>
      <vt:lpstr>Эффект Гриффина</vt:lpstr>
      <vt:lpstr>Предложение</vt:lpstr>
      <vt:lpstr>ИЗМЕНЕНИЕ ПРЕДЛОЖЕНИЯ И ФУНКЦИИ ПРЕДЛОЖЕНИЯ </vt:lpstr>
      <vt:lpstr>Предложение</vt:lpstr>
      <vt:lpstr>Факторы, меняющие предложение</vt:lpstr>
      <vt:lpstr>Презентация PowerPoint</vt:lpstr>
      <vt:lpstr>Презентация PowerPoint</vt:lpstr>
      <vt:lpstr>Презентация PowerPoint</vt:lpstr>
      <vt:lpstr> Рыночное равновесие (крест  Маршалла)</vt:lpstr>
      <vt:lpstr>Методы прогнозирования спроса</vt:lpstr>
      <vt:lpstr>Методы прогнозирования спроса</vt:lpstr>
      <vt:lpstr>Методы прогнозирования спроса</vt:lpstr>
      <vt:lpstr>Ценовая дискриминация</vt:lpstr>
      <vt:lpstr>Экономическая природа предприятия и рынка</vt:lpstr>
      <vt:lpstr>Презентация PowerPoint</vt:lpstr>
      <vt:lpstr>- это совокупность учреждений, государственных и коммерческих фирм, обеспечивающих функционирование рыночных отношений.</vt:lpstr>
      <vt:lpstr>ИНФРАСТРУКТУРА РЫНКА </vt:lpstr>
      <vt:lpstr>Презентация PowerPoint</vt:lpstr>
      <vt:lpstr>ЭПОХАЛЬНЫЙ ПРИМЕР </vt:lpstr>
      <vt:lpstr>Рыночная среда  и вывод продукта на рынок</vt:lpstr>
      <vt:lpstr>Типы рынков</vt:lpstr>
      <vt:lpstr>Презентация PowerPoint</vt:lpstr>
      <vt:lpstr>Презентация PowerPoint</vt:lpstr>
      <vt:lpstr>Презентация PowerPoint</vt:lpstr>
      <vt:lpstr>Критерии сегментации </vt:lpstr>
      <vt:lpstr>Презентация PowerPoint</vt:lpstr>
      <vt:lpstr>Презентация PowerPoint</vt:lpstr>
      <vt:lpstr>Презентация PowerPoint</vt:lpstr>
      <vt:lpstr>Продление жизненного цикла</vt:lpstr>
      <vt:lpstr>Презентация PowerPoint</vt:lpstr>
      <vt:lpstr>Презентация PowerPoint</vt:lpstr>
      <vt:lpstr>Дополнительный материал</vt:lpstr>
      <vt:lpstr>Презентация PowerPoint</vt:lpstr>
      <vt:lpstr>ВТП 12</vt:lpstr>
      <vt:lpstr>ВТП 13</vt:lpstr>
      <vt:lpstr>ВТП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Бойцова Юлия Сергеевна</dc:creator>
  <cp:lastModifiedBy>admin</cp:lastModifiedBy>
  <cp:revision>44</cp:revision>
  <dcterms:created xsi:type="dcterms:W3CDTF">2025-07-07T13:10:43Z</dcterms:created>
  <dcterms:modified xsi:type="dcterms:W3CDTF">2026-09-04T19:38:55Z</dcterms:modified>
</cp:coreProperties>
</file>